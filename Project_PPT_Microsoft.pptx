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571" r:id="rId3"/>
    <p:sldId id="572" r:id="rId4"/>
    <p:sldId id="573" r:id="rId5"/>
    <p:sldId id="574" r:id="rId6"/>
    <p:sldId id="576" r:id="rId7"/>
    <p:sldId id="577" r:id="rId8"/>
    <p:sldId id="579" r:id="rId9"/>
    <p:sldId id="578" r:id="rId10"/>
    <p:sldId id="570" r:id="rId11"/>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20B836-56D0-97DC-068F-01B3A795833D}" v="107" dt="2025-04-28T10:32:37.732"/>
    <p1510:client id="{22C22A61-C23B-4AFE-81E6-4E7076213851}" v="1" dt="2025-04-28T10:44:04.838"/>
    <p1510:client id="{41ED53A8-5329-C747-A241-46CEB6D4E255}" v="58" dt="2025-04-29T04:53:52.575"/>
    <p1510:client id="{65706ED1-670B-4719-B8CB-BA21F8D40372}" v="31" dt="2025-04-29T05:33:41.586"/>
    <p1510:client id="{9567BC2E-213D-4409-89B3-6A653ECA53D9}" v="15" dt="2025-04-29T08:24:08.9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baz Ahmed Ali" userId="S::shabaz@edunetfoundation.org::8937c481-946d-4552-82de-d81526054d6b" providerId="AD" clId="Web-{22C22A61-C23B-4AFE-81E6-4E7076213851}"/>
    <pc:docChg chg="sldOrd">
      <pc:chgData name="Shabaz Ahmed Ali" userId="S::shabaz@edunetfoundation.org::8937c481-946d-4552-82de-d81526054d6b" providerId="AD" clId="Web-{22C22A61-C23B-4AFE-81E6-4E7076213851}" dt="2025-04-28T10:44:04.838" v="0"/>
      <pc:docMkLst>
        <pc:docMk/>
      </pc:docMkLst>
      <pc:sldChg chg="ord">
        <pc:chgData name="Shabaz Ahmed Ali" userId="S::shabaz@edunetfoundation.org::8937c481-946d-4552-82de-d81526054d6b" providerId="AD" clId="Web-{22C22A61-C23B-4AFE-81E6-4E7076213851}" dt="2025-04-28T10:44:04.838" v="0"/>
        <pc:sldMkLst>
          <pc:docMk/>
          <pc:sldMk cId="3744199677" sldId="579"/>
        </pc:sldMkLst>
      </pc:sldChg>
    </pc:docChg>
  </pc:docChgLst>
  <pc:docChgLst>
    <pc:chgData name="Kush Tripathi" userId="7a3ee10a-3b61-41fe-ac67-b165fb7d4208" providerId="ADAL" clId="{41ED53A8-5329-C747-A241-46CEB6D4E255}"/>
    <pc:docChg chg="modSld">
      <pc:chgData name="Kush Tripathi" userId="7a3ee10a-3b61-41fe-ac67-b165fb7d4208" providerId="ADAL" clId="{41ED53A8-5329-C747-A241-46CEB6D4E255}" dt="2025-04-29T04:53:52.575" v="57" actId="20577"/>
      <pc:docMkLst>
        <pc:docMk/>
      </pc:docMkLst>
      <pc:sldChg chg="modSp mod">
        <pc:chgData name="Kush Tripathi" userId="7a3ee10a-3b61-41fe-ac67-b165fb7d4208" providerId="ADAL" clId="{41ED53A8-5329-C747-A241-46CEB6D4E255}" dt="2025-04-29T04:53:52.575" v="57" actId="20577"/>
        <pc:sldMkLst>
          <pc:docMk/>
          <pc:sldMk cId="109857222" sldId="256"/>
        </pc:sldMkLst>
        <pc:spChg chg="mod">
          <ac:chgData name="Kush Tripathi" userId="7a3ee10a-3b61-41fe-ac67-b165fb7d4208" providerId="ADAL" clId="{41ED53A8-5329-C747-A241-46CEB6D4E255}" dt="2025-04-29T04:53:06.617" v="0" actId="14100"/>
          <ac:spMkLst>
            <pc:docMk/>
            <pc:sldMk cId="109857222" sldId="256"/>
            <ac:spMk id="2" creationId="{00000000-0000-0000-0000-000000000000}"/>
          </ac:spMkLst>
        </pc:spChg>
        <pc:spChg chg="mod">
          <ac:chgData name="Kush Tripathi" userId="7a3ee10a-3b61-41fe-ac67-b165fb7d4208" providerId="ADAL" clId="{41ED53A8-5329-C747-A241-46CEB6D4E255}" dt="2025-04-29T04:53:09.274" v="1" actId="1076"/>
          <ac:spMkLst>
            <pc:docMk/>
            <pc:sldMk cId="109857222" sldId="256"/>
            <ac:spMk id="3" creationId="{00000000-0000-0000-0000-000000000000}"/>
          </ac:spMkLst>
        </pc:spChg>
        <pc:spChg chg="mod">
          <ac:chgData name="Kush Tripathi" userId="7a3ee10a-3b61-41fe-ac67-b165fb7d4208" providerId="ADAL" clId="{41ED53A8-5329-C747-A241-46CEB6D4E255}" dt="2025-04-29T04:53:52.575" v="57" actId="20577"/>
          <ac:spMkLst>
            <pc:docMk/>
            <pc:sldMk cId="109857222" sldId="256"/>
            <ac:spMk id="4" creationId="{EAB0FDC9-4C27-8F7B-AC01-4E468CB23D2B}"/>
          </ac:spMkLst>
        </pc:spChg>
      </pc:sldChg>
    </pc:docChg>
  </pc:docChgLst>
  <pc:docChgLst>
    <pc:chgData name="Shabaz Ahmed Ali" userId="S::shabaz@edunetfoundation.org::8937c481-946d-4552-82de-d81526054d6b" providerId="AD" clId="Web-{9567BC2E-213D-4409-89B3-6A653ECA53D9}"/>
    <pc:docChg chg="modSld">
      <pc:chgData name="Shabaz Ahmed Ali" userId="S::shabaz@edunetfoundation.org::8937c481-946d-4552-82de-d81526054d6b" providerId="AD" clId="Web-{9567BC2E-213D-4409-89B3-6A653ECA53D9}" dt="2025-04-29T08:24:08.978" v="14" actId="20577"/>
      <pc:docMkLst>
        <pc:docMk/>
      </pc:docMkLst>
      <pc:sldChg chg="modSp">
        <pc:chgData name="Shabaz Ahmed Ali" userId="S::shabaz@edunetfoundation.org::8937c481-946d-4552-82de-d81526054d6b" providerId="AD" clId="Web-{9567BC2E-213D-4409-89B3-6A653ECA53D9}" dt="2025-04-29T08:22:25.899" v="1" actId="14100"/>
        <pc:sldMkLst>
          <pc:docMk/>
          <pc:sldMk cId="109857222" sldId="256"/>
        </pc:sldMkLst>
        <pc:spChg chg="mod">
          <ac:chgData name="Shabaz Ahmed Ali" userId="S::shabaz@edunetfoundation.org::8937c481-946d-4552-82de-d81526054d6b" providerId="AD" clId="Web-{9567BC2E-213D-4409-89B3-6A653ECA53D9}" dt="2025-04-29T08:22:25.899" v="1" actId="14100"/>
          <ac:spMkLst>
            <pc:docMk/>
            <pc:sldMk cId="109857222" sldId="256"/>
            <ac:spMk id="2" creationId="{00000000-0000-0000-0000-000000000000}"/>
          </ac:spMkLst>
        </pc:spChg>
      </pc:sldChg>
      <pc:sldChg chg="modSp">
        <pc:chgData name="Shabaz Ahmed Ali" userId="S::shabaz@edunetfoundation.org::8937c481-946d-4552-82de-d81526054d6b" providerId="AD" clId="Web-{9567BC2E-213D-4409-89B3-6A653ECA53D9}" dt="2025-04-29T08:24:08.978" v="14" actId="20577"/>
        <pc:sldMkLst>
          <pc:docMk/>
          <pc:sldMk cId="1691700673" sldId="578"/>
        </pc:sldMkLst>
        <pc:spChg chg="mod">
          <ac:chgData name="Shabaz Ahmed Ali" userId="S::shabaz@edunetfoundation.org::8937c481-946d-4552-82de-d81526054d6b" providerId="AD" clId="Web-{9567BC2E-213D-4409-89B3-6A653ECA53D9}" dt="2025-04-29T08:24:08.978" v="14" actId="20577"/>
          <ac:spMkLst>
            <pc:docMk/>
            <pc:sldMk cId="1691700673" sldId="578"/>
            <ac:spMk id="3" creationId="{5E6198D1-2392-A218-1A4C-10F40FCB8253}"/>
          </ac:spMkLst>
        </pc:spChg>
      </pc:sldChg>
    </pc:docChg>
  </pc:docChgLst>
  <pc:docChgLst>
    <pc:chgData name="Shabaz Ahmed Ali" userId="S::shabaz@edunetfoundation.org::8937c481-946d-4552-82de-d81526054d6b" providerId="AD" clId="Web-{65706ED1-670B-4719-B8CB-BA21F8D40372}"/>
    <pc:docChg chg="modSld">
      <pc:chgData name="Shabaz Ahmed Ali" userId="S::shabaz@edunetfoundation.org::8937c481-946d-4552-82de-d81526054d6b" providerId="AD" clId="Web-{65706ED1-670B-4719-B8CB-BA21F8D40372}" dt="2025-04-29T05:33:39.336" v="29" actId="20577"/>
      <pc:docMkLst>
        <pc:docMk/>
      </pc:docMkLst>
      <pc:sldChg chg="addSp delSp modSp">
        <pc:chgData name="Shabaz Ahmed Ali" userId="S::shabaz@edunetfoundation.org::8937c481-946d-4552-82de-d81526054d6b" providerId="AD" clId="Web-{65706ED1-670B-4719-B8CB-BA21F8D40372}" dt="2025-04-29T05:33:39.336" v="29" actId="20577"/>
        <pc:sldMkLst>
          <pc:docMk/>
          <pc:sldMk cId="109857222" sldId="256"/>
        </pc:sldMkLst>
        <pc:spChg chg="mod">
          <ac:chgData name="Shabaz Ahmed Ali" userId="S::shabaz@edunetfoundation.org::8937c481-946d-4552-82de-d81526054d6b" providerId="AD" clId="Web-{65706ED1-670B-4719-B8CB-BA21F8D40372}" dt="2025-04-29T04:57:38.200" v="24" actId="20577"/>
          <ac:spMkLst>
            <pc:docMk/>
            <pc:sldMk cId="109857222" sldId="256"/>
            <ac:spMk id="2" creationId="{00000000-0000-0000-0000-000000000000}"/>
          </ac:spMkLst>
        </pc:spChg>
        <pc:spChg chg="mod">
          <ac:chgData name="Shabaz Ahmed Ali" userId="S::shabaz@edunetfoundation.org::8937c481-946d-4552-82de-d81526054d6b" providerId="AD" clId="Web-{65706ED1-670B-4719-B8CB-BA21F8D40372}" dt="2025-04-29T05:33:39.336" v="29" actId="20577"/>
          <ac:spMkLst>
            <pc:docMk/>
            <pc:sldMk cId="109857222" sldId="256"/>
            <ac:spMk id="3" creationId="{00000000-0000-0000-0000-000000000000}"/>
          </ac:spMkLst>
        </pc:spChg>
        <pc:spChg chg="del">
          <ac:chgData name="Shabaz Ahmed Ali" userId="S::shabaz@edunetfoundation.org::8937c481-946d-4552-82de-d81526054d6b" providerId="AD" clId="Web-{65706ED1-670B-4719-B8CB-BA21F8D40372}" dt="2025-04-29T04:57:29.528" v="23"/>
          <ac:spMkLst>
            <pc:docMk/>
            <pc:sldMk cId="109857222" sldId="256"/>
            <ac:spMk id="4" creationId="{EAB0FDC9-4C27-8F7B-AC01-4E468CB23D2B}"/>
          </ac:spMkLst>
        </pc:spChg>
        <pc:spChg chg="del">
          <ac:chgData name="Shabaz Ahmed Ali" userId="S::shabaz@edunetfoundation.org::8937c481-946d-4552-82de-d81526054d6b" providerId="AD" clId="Web-{65706ED1-670B-4719-B8CB-BA21F8D40372}" dt="2025-04-29T04:57:29.528" v="23"/>
          <ac:spMkLst>
            <pc:docMk/>
            <pc:sldMk cId="109857222" sldId="256"/>
            <ac:spMk id="38" creationId="{4FFBEE45-F140-49D5-85EA-C78C24340B23}"/>
          </ac:spMkLst>
        </pc:spChg>
        <pc:spChg chg="add">
          <ac:chgData name="Shabaz Ahmed Ali" userId="S::shabaz@edunetfoundation.org::8937c481-946d-4552-82de-d81526054d6b" providerId="AD" clId="Web-{65706ED1-670B-4719-B8CB-BA21F8D40372}" dt="2025-04-29T04:57:29.528" v="23"/>
          <ac:spMkLst>
            <pc:docMk/>
            <pc:sldMk cId="109857222" sldId="256"/>
            <ac:spMk id="43" creationId="{91DC6ABD-215C-4EA8-A483-CEF5B99AB385}"/>
          </ac:spMkLst>
        </pc:spChg>
        <pc:spChg chg="add">
          <ac:chgData name="Shabaz Ahmed Ali" userId="S::shabaz@edunetfoundation.org::8937c481-946d-4552-82de-d81526054d6b" providerId="AD" clId="Web-{65706ED1-670B-4719-B8CB-BA21F8D40372}" dt="2025-04-29T04:57:29.528" v="23"/>
          <ac:spMkLst>
            <pc:docMk/>
            <pc:sldMk cId="109857222" sldId="256"/>
            <ac:spMk id="49" creationId="{04357C93-F0CB-4A1C-8F77-4E9063789819}"/>
          </ac:spMkLst>
        </pc:spChg>
        <pc:grpChg chg="add">
          <ac:chgData name="Shabaz Ahmed Ali" userId="S::shabaz@edunetfoundation.org::8937c481-946d-4552-82de-d81526054d6b" providerId="AD" clId="Web-{65706ED1-670B-4719-B8CB-BA21F8D40372}" dt="2025-04-29T04:57:29.528" v="23"/>
          <ac:grpSpMkLst>
            <pc:docMk/>
            <pc:sldMk cId="109857222" sldId="256"/>
            <ac:grpSpMk id="45" creationId="{3AF6A671-C637-4547-85F4-51B6D1881399}"/>
          </ac:grpSpMkLst>
        </pc:grpChg>
        <pc:picChg chg="add mod">
          <ac:chgData name="Shabaz Ahmed Ali" userId="S::shabaz@edunetfoundation.org::8937c481-946d-4552-82de-d81526054d6b" providerId="AD" clId="Web-{65706ED1-670B-4719-B8CB-BA21F8D40372}" dt="2025-04-29T04:57:29.528" v="23"/>
          <ac:picMkLst>
            <pc:docMk/>
            <pc:sldMk cId="109857222" sldId="256"/>
            <ac:picMk id="5" creationId="{B4288F3F-AD4C-81EA-1336-D2C00EFCC479}"/>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02/05/2025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02/05/2025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02/05/2025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p:cNvSpPr>
            <a:spLocks noGrp="1"/>
          </p:cNvSpPr>
          <p:nvPr>
            <p:ph type="dt" sz="half" idx="10"/>
          </p:nvPr>
        </p:nvSpPr>
        <p:spPr/>
        <p:txBody>
          <a:bodyPr/>
          <a:lstStyle/>
          <a:p>
            <a:fld id="{846CE7D5-CF57-46EF-B807-FDD0502418D4}" type="datetimeFigureOut">
              <a:rPr lang="en-GB" smtClean="0"/>
              <a:t>02/05/2025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p:cNvSpPr>
            <a:spLocks noGrp="1"/>
          </p:cNvSpPr>
          <p:nvPr>
            <p:ph type="dt" sz="half" idx="10"/>
          </p:nvPr>
        </p:nvSpPr>
        <p:spPr/>
        <p:txBody>
          <a:bodyPr/>
          <a:lstStyle/>
          <a:p>
            <a:fld id="{846CE7D5-CF57-46EF-B807-FDD0502418D4}" type="datetimeFigureOut">
              <a:rPr lang="en-GB" smtClean="0"/>
              <a:t>02/05/2025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GB" smtClean="0"/>
              <a:t>02/05/2025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02/05/2025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02/05/2025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02/05/2025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02/05/2025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02/05/2025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02/05/2025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hyperlink" Target="https://cloud.google.com/text-to-speech" TargetMode="External"/><Relationship Id="rId3" Type="http://schemas.openxmlformats.org/officeDocument/2006/relationships/hyperlink" Target="https://pypi.org/project/SpeechRecognition/" TargetMode="External"/><Relationship Id="rId7" Type="http://schemas.openxmlformats.org/officeDocument/2006/relationships/hyperlink" Target="https://newsapi.org/" TargetMode="External"/><Relationship Id="rId2" Type="http://schemas.openxmlformats.org/officeDocument/2006/relationships/hyperlink" Target="https://docs.python.org/3/" TargetMode="External"/><Relationship Id="rId1" Type="http://schemas.openxmlformats.org/officeDocument/2006/relationships/slideLayout" Target="../slideLayouts/slideLayout2.xml"/><Relationship Id="rId6" Type="http://schemas.openxmlformats.org/officeDocument/2006/relationships/hyperlink" Target="https://openweathermap.org/api" TargetMode="External"/><Relationship Id="rId5" Type="http://schemas.openxmlformats.org/officeDocument/2006/relationships/hyperlink" Target="https://docs.python.org/3/library/tkinter.html" TargetMode="External"/><Relationship Id="rId4" Type="http://schemas.openxmlformats.org/officeDocument/2006/relationships/hyperlink" Target="https://pypi.org/project/pyttsx3/" TargetMode="External"/><Relationship Id="rId9" Type="http://schemas.openxmlformats.org/officeDocument/2006/relationships/hyperlink" Target="https://pypi.org/project/wikipedia/"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28982" y="557360"/>
            <a:ext cx="5161935" cy="2871640"/>
          </a:xfrm>
        </p:spPr>
        <p:txBody>
          <a:bodyPr vert="horz" lIns="91440" tIns="45720" rIns="91440" bIns="45720" rtlCol="0">
            <a:normAutofit/>
          </a:bodyPr>
          <a:lstStyle/>
          <a:p>
            <a:pPr algn="l"/>
            <a:r>
              <a:rPr lang="en-US" sz="2400" b="1" kern="1200" dirty="0">
                <a:latin typeface="Aptos Narrow" panose="020B0004020202020204" pitchFamily="34" charset="0"/>
              </a:rPr>
              <a:t>CAPSTONE PROJECT</a:t>
            </a:r>
            <a:br>
              <a:rPr lang="en-US" sz="2400" b="1" dirty="0">
                <a:latin typeface="Aptos Narrow" panose="020B0004020202020204" pitchFamily="34" charset="0"/>
              </a:rPr>
            </a:br>
            <a:br>
              <a:rPr lang="en-US" sz="5100" b="1" dirty="0">
                <a:latin typeface="Aptos Narrow" panose="020B0004020202020204" pitchFamily="34" charset="0"/>
              </a:rPr>
            </a:br>
            <a:r>
              <a:rPr lang="en-US" sz="3600" dirty="0">
                <a:latin typeface="Aptos Narrow" panose="020B0004020202020204" pitchFamily="34" charset="0"/>
              </a:rPr>
              <a:t>Smart Personal Assistant with Advanced Voice Recognition and Control"</a:t>
            </a:r>
          </a:p>
          <a:p>
            <a:pPr algn="l"/>
            <a:endParaRPr lang="en-US" sz="5100" b="1" kern="1200" dirty="0">
              <a:latin typeface="Aptos Narrow" panose="020B0004020202020204" pitchFamily="34" charset="0"/>
            </a:endParaRPr>
          </a:p>
        </p:txBody>
      </p:sp>
      <p:sp>
        <p:nvSpPr>
          <p:cNvPr id="3" name="Subtitle 2"/>
          <p:cNvSpPr>
            <a:spLocks noGrp="1"/>
          </p:cNvSpPr>
          <p:nvPr>
            <p:ph type="subTitle" idx="1"/>
          </p:nvPr>
        </p:nvSpPr>
        <p:spPr>
          <a:xfrm>
            <a:off x="-68826" y="3215148"/>
            <a:ext cx="5908687" cy="3642217"/>
          </a:xfrm>
        </p:spPr>
        <p:txBody>
          <a:bodyPr vert="horz" lIns="91440" tIns="45720" rIns="91440" bIns="45720" rtlCol="0" anchor="t">
            <a:noAutofit/>
          </a:bodyPr>
          <a:lstStyle/>
          <a:p>
            <a:pPr algn="l">
              <a:spcAft>
                <a:spcPts val="600"/>
              </a:spcAft>
            </a:pPr>
            <a:r>
              <a:rPr lang="en-US" sz="1800" b="1" cap="all" dirty="0"/>
              <a:t>Presented By:- Prathamesh Sanjiv </a:t>
            </a:r>
            <a:r>
              <a:rPr lang="en-US" sz="1800" b="1" cap="all" dirty="0" err="1"/>
              <a:t>lahase</a:t>
            </a:r>
            <a:endParaRPr lang="en-US" sz="1800" cap="all" dirty="0"/>
          </a:p>
          <a:p>
            <a:pPr algn="l">
              <a:spcAft>
                <a:spcPts val="600"/>
              </a:spcAft>
            </a:pPr>
            <a:r>
              <a:rPr lang="en-US" sz="1800" b="1" cap="all" dirty="0"/>
              <a:t>Student Name:- Prathamesh Sanjiv Lahase</a:t>
            </a:r>
          </a:p>
          <a:p>
            <a:pPr algn="l">
              <a:spcAft>
                <a:spcPts val="600"/>
              </a:spcAft>
            </a:pPr>
            <a:r>
              <a:rPr lang="en-US" sz="1800" b="1" cap="all" dirty="0"/>
              <a:t>College Name:- Thakur </a:t>
            </a:r>
            <a:r>
              <a:rPr lang="en-US" sz="1800" b="1" cap="all" dirty="0" err="1"/>
              <a:t>poytechnic</a:t>
            </a:r>
            <a:endParaRPr lang="en-US" sz="1800" b="1" cap="all" dirty="0"/>
          </a:p>
          <a:p>
            <a:pPr algn="l">
              <a:spcAft>
                <a:spcPts val="600"/>
              </a:spcAft>
            </a:pPr>
            <a:r>
              <a:rPr lang="en-US" sz="1800" b="1" cap="all" dirty="0"/>
              <a:t>Department:- computer engineering </a:t>
            </a:r>
          </a:p>
          <a:p>
            <a:pPr algn="l">
              <a:spcAft>
                <a:spcPts val="600"/>
              </a:spcAft>
            </a:pPr>
            <a:r>
              <a:rPr lang="en-US" sz="1800" b="1" cap="all" dirty="0"/>
              <a:t>Email ID:- prathameshlahase2007@gmail.com</a:t>
            </a:r>
          </a:p>
          <a:p>
            <a:pPr algn="l">
              <a:spcAft>
                <a:spcPts val="600"/>
              </a:spcAft>
            </a:pPr>
            <a:r>
              <a:rPr lang="en-US" sz="1800" b="1" cap="all" dirty="0"/>
              <a:t>AICTE Student ID:-  </a:t>
            </a:r>
            <a:r>
              <a:rPr lang="en-IN" sz="1800" dirty="0"/>
              <a:t>STU6764105e2cb211734611038 </a:t>
            </a:r>
            <a:endParaRPr lang="en-US" sz="1800" dirty="0"/>
          </a:p>
        </p:txBody>
      </p:sp>
      <p:grpSp>
        <p:nvGrpSpPr>
          <p:cNvPr id="45" name="Group 44">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416432" y="1"/>
            <a:ext cx="2446384" cy="5777808"/>
            <a:chOff x="329184" y="1"/>
            <a:chExt cx="524256" cy="5777808"/>
          </a:xfrm>
        </p:grpSpPr>
        <p:cxnSp>
          <p:nvCxnSpPr>
            <p:cNvPr id="46" name="Straight Connector 45">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9" name="Rectangle 48">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1FFCC7B5-615A-73FC-3DE6-1F082934FE14}"/>
              </a:ext>
            </a:extLst>
          </p:cNvPr>
          <p:cNvPicPr>
            <a:picLocks noChangeAspect="1"/>
          </p:cNvPicPr>
          <p:nvPr/>
        </p:nvPicPr>
        <p:blipFill>
          <a:blip r:embed="rId2"/>
          <a:stretch>
            <a:fillRect/>
          </a:stretch>
        </p:blipFill>
        <p:spPr>
          <a:xfrm>
            <a:off x="5489653" y="399848"/>
            <a:ext cx="5910667" cy="5947727"/>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1E0E59-694D-9DFE-4488-37D5F2F480A7}"/>
              </a:ext>
            </a:extLst>
          </p:cNvPr>
          <p:cNvSpPr>
            <a:spLocks noGrp="1"/>
          </p:cNvSpPr>
          <p:nvPr>
            <p:ph type="title"/>
          </p:nvPr>
        </p:nvSpPr>
        <p:spPr>
          <a:xfrm>
            <a:off x="838200" y="365125"/>
            <a:ext cx="10515600" cy="1325563"/>
          </a:xfrm>
        </p:spPr>
        <p:txBody>
          <a:bodyPr>
            <a:normAutofit/>
          </a:bodyPr>
          <a:lstStyle/>
          <a:p>
            <a:r>
              <a:rPr lang="en-US" sz="5400" b="1" cap="all">
                <a:latin typeface="Arial"/>
                <a:cs typeface="Arial"/>
              </a:rPr>
              <a:t>OUTLINE</a:t>
            </a:r>
            <a:endParaRPr lang="en-US" sz="5400"/>
          </a:p>
        </p:txBody>
      </p:sp>
      <p:sp>
        <p:nvSpPr>
          <p:cNvPr id="2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C04173D-62A9-AF06-B476-EEB827087147}"/>
              </a:ext>
            </a:extLst>
          </p:cNvPr>
          <p:cNvSpPr>
            <a:spLocks noGrp="1"/>
          </p:cNvSpPr>
          <p:nvPr>
            <p:ph idx="1"/>
          </p:nvPr>
        </p:nvSpPr>
        <p:spPr>
          <a:xfrm>
            <a:off x="838200" y="1929384"/>
            <a:ext cx="10515600" cy="4251960"/>
          </a:xfrm>
        </p:spPr>
        <p:txBody>
          <a:bodyPr vert="horz" lIns="91440" tIns="45720" rIns="91440" bIns="45720" rtlCol="0">
            <a:normAutofit/>
          </a:bodyPr>
          <a:lstStyle/>
          <a:p>
            <a:pPr marL="305435" indent="-305435">
              <a:spcBef>
                <a:spcPct val="20000"/>
              </a:spcBef>
              <a:spcAft>
                <a:spcPts val="600"/>
              </a:spcAft>
            </a:pPr>
            <a:r>
              <a:rPr lang="en-US" sz="2200" b="1">
                <a:latin typeface="Arial"/>
                <a:cs typeface="Arial"/>
              </a:rPr>
              <a:t>Problem Statement </a:t>
            </a:r>
            <a:r>
              <a:rPr lang="en-US" sz="2200">
                <a:latin typeface="Arial"/>
                <a:cs typeface="Arial"/>
              </a:rPr>
              <a:t>(Should not include solution)</a:t>
            </a:r>
          </a:p>
          <a:p>
            <a:pPr marL="305435" indent="-305435">
              <a:spcBef>
                <a:spcPct val="20000"/>
              </a:spcBef>
              <a:spcAft>
                <a:spcPts val="600"/>
              </a:spcAft>
            </a:pPr>
            <a:r>
              <a:rPr lang="en-US" sz="2200" b="1">
                <a:latin typeface="Arial"/>
                <a:cs typeface="Arial"/>
              </a:rPr>
              <a:t>Proposed System/Solution</a:t>
            </a:r>
            <a:endParaRPr lang="en-US" sz="2200">
              <a:latin typeface="Arial"/>
              <a:cs typeface="Arial"/>
            </a:endParaRPr>
          </a:p>
          <a:p>
            <a:pPr marL="305435" indent="-305435">
              <a:spcBef>
                <a:spcPct val="20000"/>
              </a:spcBef>
              <a:spcAft>
                <a:spcPts val="600"/>
              </a:spcAft>
            </a:pPr>
            <a:r>
              <a:rPr lang="en-US" sz="2200" b="1">
                <a:latin typeface="Arial"/>
                <a:cs typeface="Arial"/>
              </a:rPr>
              <a:t>System Development Approach </a:t>
            </a:r>
            <a:r>
              <a:rPr lang="en-US" sz="2200">
                <a:latin typeface="Arial"/>
                <a:cs typeface="Arial"/>
              </a:rPr>
              <a:t>(Technology Used) </a:t>
            </a:r>
          </a:p>
          <a:p>
            <a:pPr marL="305435" indent="-305435">
              <a:spcBef>
                <a:spcPct val="20000"/>
              </a:spcBef>
              <a:spcAft>
                <a:spcPts val="600"/>
              </a:spcAft>
            </a:pPr>
            <a:r>
              <a:rPr lang="en-US" sz="2200" b="1">
                <a:latin typeface="Arial"/>
                <a:cs typeface="Arial"/>
              </a:rPr>
              <a:t>Algorithm &amp; Deployment  </a:t>
            </a:r>
            <a:endParaRPr lang="en-US" sz="2200">
              <a:latin typeface="Arial"/>
              <a:cs typeface="Arial"/>
            </a:endParaRPr>
          </a:p>
          <a:p>
            <a:pPr marL="305435" indent="-305435">
              <a:spcBef>
                <a:spcPct val="20000"/>
              </a:spcBef>
              <a:spcAft>
                <a:spcPts val="600"/>
              </a:spcAft>
            </a:pPr>
            <a:r>
              <a:rPr lang="en-US" sz="2200" b="1">
                <a:latin typeface="Arial"/>
                <a:cs typeface="Arial"/>
              </a:rPr>
              <a:t>Result (Output Image)</a:t>
            </a:r>
            <a:endParaRPr lang="en-US" sz="2200">
              <a:latin typeface="Arial"/>
              <a:cs typeface="Arial"/>
            </a:endParaRPr>
          </a:p>
          <a:p>
            <a:pPr marL="305435" indent="-305435">
              <a:spcBef>
                <a:spcPct val="20000"/>
              </a:spcBef>
              <a:spcAft>
                <a:spcPts val="600"/>
              </a:spcAft>
            </a:pPr>
            <a:r>
              <a:rPr lang="en-US" sz="2200" b="1">
                <a:latin typeface="Arial"/>
                <a:cs typeface="Arial"/>
              </a:rPr>
              <a:t>Conclusion</a:t>
            </a:r>
            <a:endParaRPr lang="en-US" sz="2200">
              <a:latin typeface="Arial"/>
              <a:cs typeface="Arial"/>
            </a:endParaRPr>
          </a:p>
          <a:p>
            <a:pPr marL="305435" indent="-305435">
              <a:spcBef>
                <a:spcPct val="20000"/>
              </a:spcBef>
              <a:spcAft>
                <a:spcPts val="600"/>
              </a:spcAft>
            </a:pPr>
            <a:r>
              <a:rPr lang="en-US" sz="2200" b="1">
                <a:latin typeface="Arial"/>
                <a:cs typeface="Arial"/>
              </a:rPr>
              <a:t>Future Scope</a:t>
            </a:r>
            <a:endParaRPr lang="en-US" sz="2200">
              <a:latin typeface="Arial"/>
              <a:cs typeface="Arial"/>
            </a:endParaRPr>
          </a:p>
          <a:p>
            <a:pPr marL="305435" indent="-305435">
              <a:spcBef>
                <a:spcPct val="20000"/>
              </a:spcBef>
              <a:spcAft>
                <a:spcPts val="600"/>
              </a:spcAft>
            </a:pPr>
            <a:r>
              <a:rPr lang="en-US" sz="2200" b="1">
                <a:latin typeface="Arial"/>
                <a:cs typeface="Arial"/>
              </a:rPr>
              <a:t>References</a:t>
            </a:r>
            <a:endParaRPr lang="en-US" sz="2200">
              <a:latin typeface="Arial"/>
              <a:cs typeface="Arial"/>
            </a:endParaRPr>
          </a:p>
          <a:p>
            <a:endParaRPr lang="en-GB" sz="2200">
              <a:latin typeface="Aptos" panose="020B0004020202020204"/>
              <a:cs typeface="Arial"/>
            </a:endParaRPr>
          </a:p>
        </p:txBody>
      </p:sp>
    </p:spTree>
    <p:extLst>
      <p:ext uri="{BB962C8B-B14F-4D97-AF65-F5344CB8AC3E}">
        <p14:creationId xmlns:p14="http://schemas.microsoft.com/office/powerpoint/2010/main" val="281787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C39B35C-A00A-C6C7-8532-576758ED4255}"/>
              </a:ext>
            </a:extLst>
          </p:cNvPr>
          <p:cNvSpPr>
            <a:spLocks noGrp="1"/>
          </p:cNvSpPr>
          <p:nvPr>
            <p:ph type="title"/>
          </p:nvPr>
        </p:nvSpPr>
        <p:spPr>
          <a:xfrm>
            <a:off x="838200" y="365125"/>
            <a:ext cx="10515600" cy="1325563"/>
          </a:xfrm>
        </p:spPr>
        <p:txBody>
          <a:bodyPr>
            <a:normAutofit/>
          </a:bodyPr>
          <a:lstStyle/>
          <a:p>
            <a:r>
              <a:rPr lang="en-US" sz="5400" b="1" cap="all">
                <a:latin typeface="Arial"/>
                <a:cs typeface="Arial"/>
              </a:rPr>
              <a:t>Problem Statement</a:t>
            </a:r>
            <a:endParaRPr lang="en-US" sz="5400"/>
          </a:p>
        </p:txBody>
      </p:sp>
      <p:sp>
        <p:nvSpPr>
          <p:cNvPr id="17"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8E8C97F-5AC9-F1CA-3CCC-090D5B13989A}"/>
              </a:ext>
            </a:extLst>
          </p:cNvPr>
          <p:cNvSpPr>
            <a:spLocks noGrp="1"/>
          </p:cNvSpPr>
          <p:nvPr>
            <p:ph idx="1"/>
          </p:nvPr>
        </p:nvSpPr>
        <p:spPr>
          <a:xfrm>
            <a:off x="669036" y="2093766"/>
            <a:ext cx="10515600" cy="3206693"/>
          </a:xfrm>
        </p:spPr>
        <p:txBody>
          <a:bodyPr vert="horz" lIns="91440" tIns="45720" rIns="91440" bIns="45720" rtlCol="0">
            <a:normAutofit lnSpcReduction="10000"/>
          </a:bodyPr>
          <a:lstStyle/>
          <a:p>
            <a:pPr marL="0" indent="0">
              <a:buNone/>
            </a:pPr>
            <a:r>
              <a:rPr lang="en-US" dirty="0">
                <a:latin typeface="Franklin Gothic Demi" panose="020B0703020102020204" pitchFamily="34" charset="0"/>
              </a:rPr>
              <a:t>In today's fast-paced world, individuals often juggle multiple tasks, and managing daily activities can become overwhelming. While smartphones and digital assistants help to some extent, a truly intelligent, personalized assistant that can integrate with various applications and systems is often lacking. The need for a voice controlled assistant capable of performing multiple functions such as providing real-time information, executing commands, and integrating with multiple web services is increasingly important.</a:t>
            </a:r>
          </a:p>
        </p:txBody>
      </p:sp>
    </p:spTree>
    <p:extLst>
      <p:ext uri="{BB962C8B-B14F-4D97-AF65-F5344CB8AC3E}">
        <p14:creationId xmlns:p14="http://schemas.microsoft.com/office/powerpoint/2010/main" val="33729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27B4B1-584E-2479-D762-2265C7398D27}"/>
              </a:ext>
            </a:extLst>
          </p:cNvPr>
          <p:cNvSpPr>
            <a:spLocks noGrp="1"/>
          </p:cNvSpPr>
          <p:nvPr>
            <p:ph type="title"/>
          </p:nvPr>
        </p:nvSpPr>
        <p:spPr>
          <a:xfrm>
            <a:off x="612501" y="351810"/>
            <a:ext cx="10515600" cy="1325563"/>
          </a:xfrm>
        </p:spPr>
        <p:txBody>
          <a:bodyPr>
            <a:normAutofit/>
          </a:bodyPr>
          <a:lstStyle/>
          <a:p>
            <a:r>
              <a:rPr lang="en-US" sz="5400" b="1" cap="all" dirty="0">
                <a:latin typeface="Arial"/>
                <a:cs typeface="Arial"/>
              </a:rPr>
              <a:t>Proposed Solution</a:t>
            </a:r>
            <a:endParaRPr lang="en-US" sz="54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F67202D-4065-DDD7-98F1-4291C536D1A3}"/>
              </a:ext>
            </a:extLst>
          </p:cNvPr>
          <p:cNvSpPr>
            <a:spLocks noGrp="1"/>
          </p:cNvSpPr>
          <p:nvPr>
            <p:ph idx="1"/>
          </p:nvPr>
        </p:nvSpPr>
        <p:spPr>
          <a:xfrm>
            <a:off x="612501" y="1713949"/>
            <a:ext cx="10341077" cy="5620916"/>
          </a:xfrm>
        </p:spPr>
        <p:txBody>
          <a:bodyPr vert="horz" lIns="91440" tIns="45720" rIns="91440" bIns="45720" rtlCol="0">
            <a:noAutofit/>
          </a:bodyPr>
          <a:lstStyle/>
          <a:p>
            <a:pPr marL="305435" indent="-305435">
              <a:spcBef>
                <a:spcPct val="20000"/>
              </a:spcBef>
              <a:spcAft>
                <a:spcPts val="600"/>
              </a:spcAft>
              <a:buFont typeface="Arial"/>
              <a:buChar char="•"/>
            </a:pPr>
            <a:r>
              <a:rPr lang="en-US" sz="900" dirty="0">
                <a:latin typeface="Aptos Display" panose="020B0004020202020204" pitchFamily="34" charset="0"/>
              </a:rPr>
              <a:t>1. Data Collection</a:t>
            </a:r>
          </a:p>
          <a:p>
            <a:pPr marL="0" indent="0">
              <a:spcBef>
                <a:spcPct val="20000"/>
              </a:spcBef>
              <a:spcAft>
                <a:spcPts val="600"/>
              </a:spcAft>
              <a:buNone/>
            </a:pPr>
            <a:r>
              <a:rPr lang="en-US" sz="900" dirty="0">
                <a:latin typeface="Aptos Display" panose="020B0004020202020204" pitchFamily="34" charset="0"/>
              </a:rPr>
              <a:t>               Gather voice commands and user preferences.</a:t>
            </a:r>
          </a:p>
          <a:p>
            <a:pPr marL="0" indent="0">
              <a:spcBef>
                <a:spcPct val="20000"/>
              </a:spcBef>
              <a:spcAft>
                <a:spcPts val="600"/>
              </a:spcAft>
              <a:buNone/>
            </a:pPr>
            <a:r>
              <a:rPr lang="en-US" sz="900" dirty="0">
                <a:latin typeface="Aptos Display" panose="020B0004020202020204" pitchFamily="34" charset="0"/>
              </a:rPr>
              <a:t>              </a:t>
            </a:r>
            <a:r>
              <a:rPr lang="en-US" sz="900" dirty="0" err="1">
                <a:latin typeface="Aptos Display" panose="020B0004020202020204" pitchFamily="34" charset="0"/>
              </a:rPr>
              <a:t>ntegrate</a:t>
            </a:r>
            <a:r>
              <a:rPr lang="en-US" sz="900" dirty="0">
                <a:latin typeface="Aptos Display" panose="020B0004020202020204" pitchFamily="34" charset="0"/>
              </a:rPr>
              <a:t> APIs (weather, news, YouTube, etc.) for live data.</a:t>
            </a:r>
          </a:p>
          <a:p>
            <a:pPr marL="0" indent="0">
              <a:spcBef>
                <a:spcPct val="20000"/>
              </a:spcBef>
              <a:spcAft>
                <a:spcPts val="600"/>
              </a:spcAft>
              <a:buNone/>
            </a:pPr>
            <a:r>
              <a:rPr lang="en-US" sz="900" dirty="0">
                <a:latin typeface="Aptos Display" panose="020B0004020202020204" pitchFamily="34" charset="0"/>
              </a:rPr>
              <a:t>              Track user interactions to personalize responses.</a:t>
            </a:r>
          </a:p>
          <a:p>
            <a:pPr marL="0" indent="0">
              <a:spcBef>
                <a:spcPct val="20000"/>
              </a:spcBef>
              <a:spcAft>
                <a:spcPts val="600"/>
              </a:spcAft>
              <a:buNone/>
            </a:pPr>
            <a:r>
              <a:rPr lang="en-US" sz="900" dirty="0">
                <a:latin typeface="Aptos Display" panose="020B0004020202020204" pitchFamily="34" charset="0"/>
              </a:rPr>
              <a:t>              2. Data Preprocessing</a:t>
            </a:r>
          </a:p>
          <a:p>
            <a:pPr marL="0" indent="0">
              <a:spcBef>
                <a:spcPct val="20000"/>
              </a:spcBef>
              <a:spcAft>
                <a:spcPts val="600"/>
              </a:spcAft>
              <a:buNone/>
            </a:pPr>
            <a:r>
              <a:rPr lang="en-US" sz="900" dirty="0">
                <a:latin typeface="Aptos Display" panose="020B0004020202020204" pitchFamily="34" charset="0"/>
              </a:rPr>
              <a:t>                Clean audio input, remove noise, and normalize voice commands.</a:t>
            </a:r>
          </a:p>
          <a:p>
            <a:pPr marL="0" indent="0">
              <a:spcBef>
                <a:spcPct val="20000"/>
              </a:spcBef>
              <a:spcAft>
                <a:spcPts val="600"/>
              </a:spcAft>
              <a:buNone/>
            </a:pPr>
            <a:r>
              <a:rPr lang="en-US" sz="900" dirty="0">
                <a:latin typeface="Aptos Display" panose="020B0004020202020204" pitchFamily="34" charset="0"/>
              </a:rPr>
              <a:t>                Use NLP to detect user intent and key phrases.       </a:t>
            </a:r>
          </a:p>
          <a:p>
            <a:pPr marL="0" indent="0">
              <a:spcBef>
                <a:spcPct val="20000"/>
              </a:spcBef>
              <a:spcAft>
                <a:spcPts val="600"/>
              </a:spcAft>
              <a:buNone/>
            </a:pPr>
            <a:r>
              <a:rPr lang="en-US" sz="900" dirty="0">
                <a:latin typeface="Aptos Display" panose="020B0004020202020204" pitchFamily="34" charset="0"/>
              </a:rPr>
              <a:t>                Combine context like time, weather, and user history.</a:t>
            </a:r>
          </a:p>
          <a:p>
            <a:pPr marL="0" indent="0">
              <a:spcBef>
                <a:spcPct val="20000"/>
              </a:spcBef>
              <a:spcAft>
                <a:spcPts val="600"/>
              </a:spcAft>
              <a:buNone/>
            </a:pPr>
            <a:r>
              <a:rPr lang="en-US" sz="900" dirty="0">
                <a:latin typeface="Aptos Display" panose="020B0004020202020204" pitchFamily="34" charset="0"/>
              </a:rPr>
              <a:t>              3. Machine Learning &amp; AI</a:t>
            </a:r>
          </a:p>
          <a:p>
            <a:pPr marL="0" indent="0">
              <a:spcBef>
                <a:spcPct val="20000"/>
              </a:spcBef>
              <a:spcAft>
                <a:spcPts val="600"/>
              </a:spcAft>
              <a:buNone/>
            </a:pPr>
            <a:r>
              <a:rPr lang="en-US" sz="900" dirty="0">
                <a:latin typeface="Aptos Display" panose="020B0004020202020204" pitchFamily="34" charset="0"/>
              </a:rPr>
              <a:t>                 Use Speech-to-Text (e.g., Google STT) for input processing.</a:t>
            </a:r>
          </a:p>
          <a:p>
            <a:pPr marL="0" indent="0">
              <a:spcBef>
                <a:spcPct val="20000"/>
              </a:spcBef>
              <a:spcAft>
                <a:spcPts val="600"/>
              </a:spcAft>
              <a:buNone/>
            </a:pPr>
            <a:r>
              <a:rPr lang="en-US" sz="900" dirty="0">
                <a:latin typeface="Aptos Display" panose="020B0004020202020204" pitchFamily="34" charset="0"/>
              </a:rPr>
              <a:t>                 NLP libraries (</a:t>
            </a:r>
            <a:r>
              <a:rPr lang="en-US" sz="900" dirty="0" err="1">
                <a:latin typeface="Aptos Display" panose="020B0004020202020204" pitchFamily="34" charset="0"/>
              </a:rPr>
              <a:t>spaCy</a:t>
            </a:r>
            <a:r>
              <a:rPr lang="en-US" sz="900" dirty="0">
                <a:latin typeface="Aptos Display" panose="020B0004020202020204" pitchFamily="34" charset="0"/>
              </a:rPr>
              <a:t>, transformers) to understand and classify commands.</a:t>
            </a:r>
          </a:p>
          <a:p>
            <a:pPr marL="0" indent="0">
              <a:spcBef>
                <a:spcPct val="20000"/>
              </a:spcBef>
              <a:spcAft>
                <a:spcPts val="600"/>
              </a:spcAft>
              <a:buNone/>
            </a:pPr>
            <a:r>
              <a:rPr lang="en-US" sz="900" dirty="0">
                <a:latin typeface="Aptos Display" panose="020B0004020202020204" pitchFamily="34" charset="0"/>
              </a:rPr>
              <a:t>                 Text-to-Speech (TTS) for natural, AI-style voice replies</a:t>
            </a:r>
          </a:p>
          <a:p>
            <a:pPr marL="0" indent="0">
              <a:spcBef>
                <a:spcPct val="20000"/>
              </a:spcBef>
              <a:spcAft>
                <a:spcPts val="600"/>
              </a:spcAft>
              <a:buNone/>
            </a:pPr>
            <a:r>
              <a:rPr lang="en-US" sz="900" dirty="0">
                <a:latin typeface="Aptos Display" panose="020B0004020202020204" pitchFamily="34" charset="0"/>
              </a:rPr>
              <a:t>                 Implement behavior adaptation based on frequent tasks.</a:t>
            </a:r>
          </a:p>
          <a:p>
            <a:pPr marL="0" indent="0">
              <a:spcBef>
                <a:spcPct val="20000"/>
              </a:spcBef>
              <a:spcAft>
                <a:spcPts val="600"/>
              </a:spcAft>
              <a:buNone/>
            </a:pPr>
            <a:r>
              <a:rPr lang="en-US" sz="900" dirty="0">
                <a:latin typeface="Aptos Display" panose="020B0004020202020204" pitchFamily="34" charset="0"/>
              </a:rPr>
              <a:t>               4. Deployment &amp; Interface </a:t>
            </a:r>
          </a:p>
          <a:p>
            <a:pPr marL="0" indent="0">
              <a:spcBef>
                <a:spcPct val="20000"/>
              </a:spcBef>
              <a:spcAft>
                <a:spcPts val="600"/>
              </a:spcAft>
              <a:buNone/>
            </a:pPr>
            <a:r>
              <a:rPr lang="en-US" sz="900" dirty="0">
                <a:latin typeface="Aptos Display" panose="020B0004020202020204" pitchFamily="34" charset="0"/>
              </a:rPr>
              <a:t>                Create a GUI with voice control using </a:t>
            </a:r>
            <a:r>
              <a:rPr lang="en-US" sz="900" dirty="0" err="1">
                <a:latin typeface="Aptos Display" panose="020B0004020202020204" pitchFamily="34" charset="0"/>
              </a:rPr>
              <a:t>Tkinter</a:t>
            </a:r>
            <a:r>
              <a:rPr lang="en-US" sz="900" dirty="0">
                <a:latin typeface="Aptos Display" panose="020B0004020202020204" pitchFamily="34" charset="0"/>
              </a:rPr>
              <a:t> or </a:t>
            </a:r>
            <a:r>
              <a:rPr lang="en-US" sz="900" dirty="0" err="1">
                <a:latin typeface="Aptos Display" panose="020B0004020202020204" pitchFamily="34" charset="0"/>
              </a:rPr>
              <a:t>PyQt</a:t>
            </a:r>
            <a:r>
              <a:rPr lang="en-US" sz="900" dirty="0">
                <a:latin typeface="Aptos Display" panose="020B0004020202020204" pitchFamily="34" charset="0"/>
              </a:rPr>
              <a:t>.</a:t>
            </a:r>
          </a:p>
          <a:p>
            <a:pPr marL="0" indent="0">
              <a:spcBef>
                <a:spcPct val="20000"/>
              </a:spcBef>
              <a:spcAft>
                <a:spcPts val="600"/>
              </a:spcAft>
              <a:buNone/>
            </a:pPr>
            <a:r>
              <a:rPr lang="en-US" sz="900" dirty="0">
                <a:latin typeface="Aptos Display" panose="020B0004020202020204" pitchFamily="34" charset="0"/>
              </a:rPr>
              <a:t>                Ensure real-time response and smooth animation.</a:t>
            </a:r>
          </a:p>
          <a:p>
            <a:pPr marL="0" indent="0">
              <a:spcBef>
                <a:spcPct val="20000"/>
              </a:spcBef>
              <a:spcAft>
                <a:spcPts val="600"/>
              </a:spcAft>
              <a:buNone/>
            </a:pPr>
            <a:r>
              <a:rPr lang="en-US" sz="900" dirty="0">
                <a:latin typeface="Aptos Display" panose="020B0004020202020204" pitchFamily="34" charset="0"/>
              </a:rPr>
              <a:t>               Support offline/online mode and cloud support if needed.</a:t>
            </a:r>
          </a:p>
          <a:p>
            <a:pPr marL="0" indent="0">
              <a:spcBef>
                <a:spcPct val="20000"/>
              </a:spcBef>
              <a:spcAft>
                <a:spcPts val="600"/>
              </a:spcAft>
              <a:buNone/>
            </a:pPr>
            <a:r>
              <a:rPr lang="en-US" sz="900" dirty="0">
                <a:latin typeface="Aptos Display" panose="020B0004020202020204" pitchFamily="34" charset="0"/>
              </a:rPr>
              <a:t>                5. Evaluation &amp; Testing</a:t>
            </a:r>
          </a:p>
          <a:p>
            <a:pPr marL="0" indent="0">
              <a:spcBef>
                <a:spcPct val="20000"/>
              </a:spcBef>
              <a:spcAft>
                <a:spcPts val="600"/>
              </a:spcAft>
              <a:buNone/>
            </a:pPr>
            <a:r>
              <a:rPr lang="en-US" sz="900" dirty="0">
                <a:latin typeface="Aptos Display" panose="020B0004020202020204" pitchFamily="34" charset="0"/>
              </a:rPr>
              <a:t>               Measure recognition accuracy and response time.</a:t>
            </a:r>
          </a:p>
          <a:p>
            <a:pPr marL="0" indent="0">
              <a:spcBef>
                <a:spcPct val="20000"/>
              </a:spcBef>
              <a:spcAft>
                <a:spcPts val="600"/>
              </a:spcAft>
              <a:buNone/>
            </a:pPr>
            <a:r>
              <a:rPr lang="en-US" sz="900" dirty="0">
                <a:latin typeface="Aptos Display" panose="020B0004020202020204" pitchFamily="34" charset="0"/>
              </a:rPr>
              <a:t>              Gather user feedback to refine system behavior.</a:t>
            </a:r>
          </a:p>
          <a:p>
            <a:pPr marL="0" indent="0">
              <a:spcBef>
                <a:spcPct val="20000"/>
              </a:spcBef>
              <a:spcAft>
                <a:spcPts val="600"/>
              </a:spcAft>
              <a:buNone/>
            </a:pPr>
            <a:r>
              <a:rPr lang="en-US" sz="900" dirty="0">
                <a:latin typeface="Aptos Display" panose="020B0004020202020204" pitchFamily="34" charset="0"/>
              </a:rPr>
              <a:t>              </a:t>
            </a:r>
            <a:r>
              <a:rPr lang="en-US" sz="900" dirty="0" err="1">
                <a:latin typeface="Aptos Display" panose="020B0004020202020204" pitchFamily="34" charset="0"/>
              </a:rPr>
              <a:t>est</a:t>
            </a:r>
            <a:r>
              <a:rPr lang="en-US" sz="900" dirty="0">
                <a:latin typeface="Aptos Display" panose="020B0004020202020204" pitchFamily="34" charset="0"/>
              </a:rPr>
              <a:t> across various users, accents, and commands.</a:t>
            </a:r>
          </a:p>
          <a:p>
            <a:pPr marL="305435" indent="-305435">
              <a:spcBef>
                <a:spcPct val="20000"/>
              </a:spcBef>
              <a:spcAft>
                <a:spcPts val="600"/>
              </a:spcAft>
              <a:buFont typeface="Arial"/>
              <a:buChar char="•"/>
            </a:pPr>
            <a:r>
              <a:rPr lang="en-US" sz="900" dirty="0">
                <a:latin typeface="Aptos Display" panose="020B0004020202020204" pitchFamily="34" charset="0"/>
              </a:rPr>
              <a:t>Result The final system is a personalized AI voice assistant with a sleek interface, real-time speech interaction, and task automation features. It understands natural voice commands, responds with a lifelike voice, fetches live data, and improves over time based on user interactions — making it a smart, interactive, and helpful digital assistant for everyday use.</a:t>
            </a:r>
            <a:endParaRPr lang="en-GB" sz="900" dirty="0">
              <a:latin typeface="Aptos Display" panose="020B0004020202020204" pitchFamily="34" charset="0"/>
            </a:endParaRPr>
          </a:p>
        </p:txBody>
      </p:sp>
    </p:spTree>
    <p:extLst>
      <p:ext uri="{BB962C8B-B14F-4D97-AF65-F5344CB8AC3E}">
        <p14:creationId xmlns:p14="http://schemas.microsoft.com/office/powerpoint/2010/main" val="204139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292D15-41B4-89C1-0EA3-03BC9FA16F97}"/>
              </a:ext>
            </a:extLst>
          </p:cNvPr>
          <p:cNvSpPr>
            <a:spLocks noGrp="1"/>
          </p:cNvSpPr>
          <p:nvPr>
            <p:ph type="title"/>
          </p:nvPr>
        </p:nvSpPr>
        <p:spPr>
          <a:xfrm>
            <a:off x="838200" y="327574"/>
            <a:ext cx="10515600" cy="1325563"/>
          </a:xfrm>
        </p:spPr>
        <p:txBody>
          <a:bodyPr>
            <a:normAutofit/>
          </a:bodyPr>
          <a:lstStyle/>
          <a:p>
            <a:r>
              <a:rPr lang="en-US" sz="5400" b="1" cap="all">
                <a:latin typeface="Arial"/>
                <a:cs typeface="Arial"/>
              </a:rPr>
              <a:t>System  Approach</a:t>
            </a:r>
            <a:endParaRPr lang="en-US"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7A001D22-27DB-3583-1AC7-D30B5DDFE624}"/>
              </a:ext>
            </a:extLst>
          </p:cNvPr>
          <p:cNvGraphicFramePr>
            <a:graphicFrameLocks noGrp="1"/>
          </p:cNvGraphicFramePr>
          <p:nvPr>
            <p:ph idx="1"/>
            <p:extLst>
              <p:ext uri="{D42A27DB-BD31-4B8C-83A1-F6EECF244321}">
                <p14:modId xmlns:p14="http://schemas.microsoft.com/office/powerpoint/2010/main" val="3494188796"/>
              </p:ext>
            </p:extLst>
          </p:nvPr>
        </p:nvGraphicFramePr>
        <p:xfrm>
          <a:off x="4842758" y="2025826"/>
          <a:ext cx="6764594" cy="4634463"/>
        </p:xfrm>
        <a:graphic>
          <a:graphicData uri="http://schemas.openxmlformats.org/drawingml/2006/table">
            <a:tbl>
              <a:tblPr/>
              <a:tblGrid>
                <a:gridCol w="3318182">
                  <a:extLst>
                    <a:ext uri="{9D8B030D-6E8A-4147-A177-3AD203B41FA5}">
                      <a16:colId xmlns:a16="http://schemas.microsoft.com/office/drawing/2014/main" val="3382782305"/>
                    </a:ext>
                  </a:extLst>
                </a:gridCol>
                <a:gridCol w="3446412">
                  <a:extLst>
                    <a:ext uri="{9D8B030D-6E8A-4147-A177-3AD203B41FA5}">
                      <a16:colId xmlns:a16="http://schemas.microsoft.com/office/drawing/2014/main" val="359629298"/>
                    </a:ext>
                  </a:extLst>
                </a:gridCol>
              </a:tblGrid>
              <a:tr h="341481">
                <a:tc>
                  <a:txBody>
                    <a:bodyPr/>
                    <a:lstStyle/>
                    <a:p>
                      <a:r>
                        <a:rPr lang="en-IN" sz="1200"/>
                        <a:t>Library</a:t>
                      </a:r>
                    </a:p>
                  </a:txBody>
                  <a:tcPr marL="73326" marR="73326" marT="36663" marB="36663" anchor="ctr">
                    <a:lnL>
                      <a:noFill/>
                    </a:lnL>
                    <a:lnR>
                      <a:noFill/>
                    </a:lnR>
                    <a:lnT>
                      <a:noFill/>
                    </a:lnT>
                    <a:lnB>
                      <a:noFill/>
                    </a:lnB>
                    <a:noFill/>
                  </a:tcPr>
                </a:tc>
                <a:tc>
                  <a:txBody>
                    <a:bodyPr/>
                    <a:lstStyle/>
                    <a:p>
                      <a:r>
                        <a:rPr lang="en-IN" sz="1200"/>
                        <a:t>Purpose</a:t>
                      </a:r>
                    </a:p>
                  </a:txBody>
                  <a:tcPr marL="73326" marR="73326" marT="36663" marB="36663" anchor="ctr">
                    <a:lnL>
                      <a:noFill/>
                    </a:lnL>
                    <a:lnR>
                      <a:noFill/>
                    </a:lnR>
                    <a:lnT>
                      <a:noFill/>
                    </a:lnT>
                    <a:lnB>
                      <a:noFill/>
                    </a:lnB>
                    <a:noFill/>
                  </a:tcPr>
                </a:tc>
                <a:extLst>
                  <a:ext uri="{0D108BD9-81ED-4DB2-BD59-A6C34878D82A}">
                    <a16:rowId xmlns:a16="http://schemas.microsoft.com/office/drawing/2014/main" val="1208540650"/>
                  </a:ext>
                </a:extLst>
              </a:tr>
              <a:tr h="341481">
                <a:tc>
                  <a:txBody>
                    <a:bodyPr/>
                    <a:lstStyle/>
                    <a:p>
                      <a:r>
                        <a:rPr lang="en-IN" sz="1200"/>
                        <a:t>speech_recognition</a:t>
                      </a:r>
                    </a:p>
                  </a:txBody>
                  <a:tcPr marL="73326" marR="73326" marT="36663" marB="36663" anchor="ctr">
                    <a:lnL>
                      <a:noFill/>
                    </a:lnL>
                    <a:lnR>
                      <a:noFill/>
                    </a:lnR>
                    <a:lnT>
                      <a:noFill/>
                    </a:lnT>
                    <a:lnB>
                      <a:noFill/>
                    </a:lnB>
                    <a:noFill/>
                  </a:tcPr>
                </a:tc>
                <a:tc>
                  <a:txBody>
                    <a:bodyPr/>
                    <a:lstStyle/>
                    <a:p>
                      <a:r>
                        <a:rPr lang="en-US" sz="1200" dirty="0"/>
                        <a:t>Convert user’s voice into text</a:t>
                      </a:r>
                    </a:p>
                  </a:txBody>
                  <a:tcPr marL="73326" marR="73326" marT="36663" marB="36663" anchor="ctr">
                    <a:lnL>
                      <a:noFill/>
                    </a:lnL>
                    <a:lnR>
                      <a:noFill/>
                    </a:lnR>
                    <a:lnT>
                      <a:noFill/>
                    </a:lnT>
                    <a:lnB>
                      <a:noFill/>
                    </a:lnB>
                    <a:noFill/>
                  </a:tcPr>
                </a:tc>
                <a:extLst>
                  <a:ext uri="{0D108BD9-81ED-4DB2-BD59-A6C34878D82A}">
                    <a16:rowId xmlns:a16="http://schemas.microsoft.com/office/drawing/2014/main" val="2579463377"/>
                  </a:ext>
                </a:extLst>
              </a:tr>
              <a:tr h="341481">
                <a:tc>
                  <a:txBody>
                    <a:bodyPr/>
                    <a:lstStyle/>
                    <a:p>
                      <a:r>
                        <a:rPr lang="en-IN" sz="1200"/>
                        <a:t>pyttsx3</a:t>
                      </a:r>
                    </a:p>
                  </a:txBody>
                  <a:tcPr marL="73326" marR="73326" marT="36663" marB="36663" anchor="ctr">
                    <a:lnL>
                      <a:noFill/>
                    </a:lnL>
                    <a:lnR>
                      <a:noFill/>
                    </a:lnR>
                    <a:lnT>
                      <a:noFill/>
                    </a:lnT>
                    <a:lnB>
                      <a:noFill/>
                    </a:lnB>
                    <a:noFill/>
                  </a:tcPr>
                </a:tc>
                <a:tc>
                  <a:txBody>
                    <a:bodyPr/>
                    <a:lstStyle/>
                    <a:p>
                      <a:r>
                        <a:rPr lang="en-IN" sz="1200"/>
                        <a:t>Text-to-speech conversion (offline support)</a:t>
                      </a:r>
                    </a:p>
                  </a:txBody>
                  <a:tcPr marL="73326" marR="73326" marT="36663" marB="36663" anchor="ctr">
                    <a:lnL>
                      <a:noFill/>
                    </a:lnL>
                    <a:lnR>
                      <a:noFill/>
                    </a:lnR>
                    <a:lnT>
                      <a:noFill/>
                    </a:lnT>
                    <a:lnB>
                      <a:noFill/>
                    </a:lnB>
                    <a:noFill/>
                  </a:tcPr>
                </a:tc>
                <a:extLst>
                  <a:ext uri="{0D108BD9-81ED-4DB2-BD59-A6C34878D82A}">
                    <a16:rowId xmlns:a16="http://schemas.microsoft.com/office/drawing/2014/main" val="1607666928"/>
                  </a:ext>
                </a:extLst>
              </a:tr>
              <a:tr h="341481">
                <a:tc>
                  <a:txBody>
                    <a:bodyPr/>
                    <a:lstStyle/>
                    <a:p>
                      <a:r>
                        <a:rPr lang="en-IN" sz="1200"/>
                        <a:t>gTTS</a:t>
                      </a:r>
                    </a:p>
                  </a:txBody>
                  <a:tcPr marL="73326" marR="73326" marT="36663" marB="36663" anchor="ctr">
                    <a:lnL>
                      <a:noFill/>
                    </a:lnL>
                    <a:lnR>
                      <a:noFill/>
                    </a:lnR>
                    <a:lnT>
                      <a:noFill/>
                    </a:lnT>
                    <a:lnB>
                      <a:noFill/>
                    </a:lnB>
                    <a:noFill/>
                  </a:tcPr>
                </a:tc>
                <a:tc>
                  <a:txBody>
                    <a:bodyPr/>
                    <a:lstStyle/>
                    <a:p>
                      <a:r>
                        <a:rPr lang="en-US" sz="1200" dirty="0"/>
                        <a:t>Google Text-to-Speech (online, human-like voice)</a:t>
                      </a:r>
                    </a:p>
                  </a:txBody>
                  <a:tcPr marL="73326" marR="73326" marT="36663" marB="36663" anchor="ctr">
                    <a:lnL>
                      <a:noFill/>
                    </a:lnL>
                    <a:lnR>
                      <a:noFill/>
                    </a:lnR>
                    <a:lnT>
                      <a:noFill/>
                    </a:lnT>
                    <a:lnB>
                      <a:noFill/>
                    </a:lnB>
                    <a:noFill/>
                  </a:tcPr>
                </a:tc>
                <a:extLst>
                  <a:ext uri="{0D108BD9-81ED-4DB2-BD59-A6C34878D82A}">
                    <a16:rowId xmlns:a16="http://schemas.microsoft.com/office/drawing/2014/main" val="406616325"/>
                  </a:ext>
                </a:extLst>
              </a:tr>
              <a:tr h="341481">
                <a:tc>
                  <a:txBody>
                    <a:bodyPr/>
                    <a:lstStyle/>
                    <a:p>
                      <a:r>
                        <a:rPr lang="en-IN" sz="1200"/>
                        <a:t>pyaudio</a:t>
                      </a:r>
                    </a:p>
                  </a:txBody>
                  <a:tcPr marL="73326" marR="73326" marT="36663" marB="36663" anchor="ctr">
                    <a:lnL>
                      <a:noFill/>
                    </a:lnL>
                    <a:lnR>
                      <a:noFill/>
                    </a:lnR>
                    <a:lnT>
                      <a:noFill/>
                    </a:lnT>
                    <a:lnB>
                      <a:noFill/>
                    </a:lnB>
                    <a:noFill/>
                  </a:tcPr>
                </a:tc>
                <a:tc>
                  <a:txBody>
                    <a:bodyPr/>
                    <a:lstStyle/>
                    <a:p>
                      <a:r>
                        <a:rPr lang="en-IN" sz="1200"/>
                        <a:t>Access microphone audio streams</a:t>
                      </a:r>
                    </a:p>
                  </a:txBody>
                  <a:tcPr marL="73326" marR="73326" marT="36663" marB="36663" anchor="ctr">
                    <a:lnL>
                      <a:noFill/>
                    </a:lnL>
                    <a:lnR>
                      <a:noFill/>
                    </a:lnR>
                    <a:lnT>
                      <a:noFill/>
                    </a:lnT>
                    <a:lnB>
                      <a:noFill/>
                    </a:lnB>
                    <a:noFill/>
                  </a:tcPr>
                </a:tc>
                <a:extLst>
                  <a:ext uri="{0D108BD9-81ED-4DB2-BD59-A6C34878D82A}">
                    <a16:rowId xmlns:a16="http://schemas.microsoft.com/office/drawing/2014/main" val="813327389"/>
                  </a:ext>
                </a:extLst>
              </a:tr>
              <a:tr h="341481">
                <a:tc>
                  <a:txBody>
                    <a:bodyPr/>
                    <a:lstStyle/>
                    <a:p>
                      <a:r>
                        <a:rPr lang="en-IN" sz="1200"/>
                        <a:t>tkinter / PyQt5</a:t>
                      </a:r>
                    </a:p>
                  </a:txBody>
                  <a:tcPr marL="73326" marR="73326" marT="36663" marB="36663" anchor="ctr">
                    <a:lnL>
                      <a:noFill/>
                    </a:lnL>
                    <a:lnR>
                      <a:noFill/>
                    </a:lnR>
                    <a:lnT>
                      <a:noFill/>
                    </a:lnT>
                    <a:lnB>
                      <a:noFill/>
                    </a:lnB>
                    <a:noFill/>
                  </a:tcPr>
                </a:tc>
                <a:tc>
                  <a:txBody>
                    <a:bodyPr/>
                    <a:lstStyle/>
                    <a:p>
                      <a:r>
                        <a:rPr lang="en-IN" sz="1200"/>
                        <a:t>GUI development for interaction interface</a:t>
                      </a:r>
                    </a:p>
                  </a:txBody>
                  <a:tcPr marL="73326" marR="73326" marT="36663" marB="36663" anchor="ctr">
                    <a:lnL>
                      <a:noFill/>
                    </a:lnL>
                    <a:lnR>
                      <a:noFill/>
                    </a:lnR>
                    <a:lnT>
                      <a:noFill/>
                    </a:lnT>
                    <a:lnB>
                      <a:noFill/>
                    </a:lnB>
                    <a:noFill/>
                  </a:tcPr>
                </a:tc>
                <a:extLst>
                  <a:ext uri="{0D108BD9-81ED-4DB2-BD59-A6C34878D82A}">
                    <a16:rowId xmlns:a16="http://schemas.microsoft.com/office/drawing/2014/main" val="2552841263"/>
                  </a:ext>
                </a:extLst>
              </a:tr>
              <a:tr h="341481">
                <a:tc>
                  <a:txBody>
                    <a:bodyPr/>
                    <a:lstStyle/>
                    <a:p>
                      <a:r>
                        <a:rPr lang="en-IN" sz="1200" dirty="0"/>
                        <a:t>datetime</a:t>
                      </a:r>
                    </a:p>
                  </a:txBody>
                  <a:tcPr marL="73326" marR="73326" marT="36663" marB="36663" anchor="ctr">
                    <a:lnL>
                      <a:noFill/>
                    </a:lnL>
                    <a:lnR>
                      <a:noFill/>
                    </a:lnR>
                    <a:lnT>
                      <a:noFill/>
                    </a:lnT>
                    <a:lnB>
                      <a:noFill/>
                    </a:lnB>
                    <a:noFill/>
                  </a:tcPr>
                </a:tc>
                <a:tc>
                  <a:txBody>
                    <a:bodyPr/>
                    <a:lstStyle/>
                    <a:p>
                      <a:r>
                        <a:rPr lang="en-US" sz="1200"/>
                        <a:t>Handle time and date operations</a:t>
                      </a:r>
                    </a:p>
                  </a:txBody>
                  <a:tcPr marL="73326" marR="73326" marT="36663" marB="36663" anchor="ctr">
                    <a:lnL>
                      <a:noFill/>
                    </a:lnL>
                    <a:lnR>
                      <a:noFill/>
                    </a:lnR>
                    <a:lnT>
                      <a:noFill/>
                    </a:lnT>
                    <a:lnB>
                      <a:noFill/>
                    </a:lnB>
                    <a:noFill/>
                  </a:tcPr>
                </a:tc>
                <a:extLst>
                  <a:ext uri="{0D108BD9-81ED-4DB2-BD59-A6C34878D82A}">
                    <a16:rowId xmlns:a16="http://schemas.microsoft.com/office/drawing/2014/main" val="3431281094"/>
                  </a:ext>
                </a:extLst>
              </a:tr>
              <a:tr h="341481">
                <a:tc>
                  <a:txBody>
                    <a:bodyPr/>
                    <a:lstStyle/>
                    <a:p>
                      <a:r>
                        <a:rPr lang="en-IN" sz="1200" dirty="0"/>
                        <a:t>requests</a:t>
                      </a:r>
                    </a:p>
                  </a:txBody>
                  <a:tcPr marL="73326" marR="73326" marT="36663" marB="36663" anchor="ctr">
                    <a:lnL>
                      <a:noFill/>
                    </a:lnL>
                    <a:lnR>
                      <a:noFill/>
                    </a:lnR>
                    <a:lnT>
                      <a:noFill/>
                    </a:lnT>
                    <a:lnB>
                      <a:noFill/>
                    </a:lnB>
                    <a:noFill/>
                  </a:tcPr>
                </a:tc>
                <a:tc>
                  <a:txBody>
                    <a:bodyPr/>
                    <a:lstStyle/>
                    <a:p>
                      <a:r>
                        <a:rPr lang="en-US" sz="1200"/>
                        <a:t>Fetch data from APIs (weather, news, etc.)</a:t>
                      </a:r>
                    </a:p>
                  </a:txBody>
                  <a:tcPr marL="73326" marR="73326" marT="36663" marB="36663" anchor="ctr">
                    <a:lnL>
                      <a:noFill/>
                    </a:lnL>
                    <a:lnR>
                      <a:noFill/>
                    </a:lnR>
                    <a:lnT>
                      <a:noFill/>
                    </a:lnT>
                    <a:lnB>
                      <a:noFill/>
                    </a:lnB>
                    <a:noFill/>
                  </a:tcPr>
                </a:tc>
                <a:extLst>
                  <a:ext uri="{0D108BD9-81ED-4DB2-BD59-A6C34878D82A}">
                    <a16:rowId xmlns:a16="http://schemas.microsoft.com/office/drawing/2014/main" val="995077268"/>
                  </a:ext>
                </a:extLst>
              </a:tr>
              <a:tr h="341481">
                <a:tc>
                  <a:txBody>
                    <a:bodyPr/>
                    <a:lstStyle/>
                    <a:p>
                      <a:r>
                        <a:rPr lang="en-IN" sz="1200" dirty="0" err="1"/>
                        <a:t>webbrowser</a:t>
                      </a:r>
                      <a:endParaRPr lang="en-IN" sz="1200" dirty="0"/>
                    </a:p>
                  </a:txBody>
                  <a:tcPr marL="73326" marR="73326" marT="36663" marB="36663" anchor="ctr">
                    <a:lnL>
                      <a:noFill/>
                    </a:lnL>
                    <a:lnR>
                      <a:noFill/>
                    </a:lnR>
                    <a:lnT>
                      <a:noFill/>
                    </a:lnT>
                    <a:lnB>
                      <a:noFill/>
                    </a:lnB>
                    <a:noFill/>
                  </a:tcPr>
                </a:tc>
                <a:tc>
                  <a:txBody>
                    <a:bodyPr/>
                    <a:lstStyle/>
                    <a:p>
                      <a:r>
                        <a:rPr lang="en-US" sz="1200"/>
                        <a:t>Open websites on user command</a:t>
                      </a:r>
                    </a:p>
                  </a:txBody>
                  <a:tcPr marL="73326" marR="73326" marT="36663" marB="36663" anchor="ctr">
                    <a:lnL>
                      <a:noFill/>
                    </a:lnL>
                    <a:lnR>
                      <a:noFill/>
                    </a:lnR>
                    <a:lnT>
                      <a:noFill/>
                    </a:lnT>
                    <a:lnB>
                      <a:noFill/>
                    </a:lnB>
                    <a:noFill/>
                  </a:tcPr>
                </a:tc>
                <a:extLst>
                  <a:ext uri="{0D108BD9-81ED-4DB2-BD59-A6C34878D82A}">
                    <a16:rowId xmlns:a16="http://schemas.microsoft.com/office/drawing/2014/main" val="3113372727"/>
                  </a:ext>
                </a:extLst>
              </a:tr>
              <a:tr h="341481">
                <a:tc>
                  <a:txBody>
                    <a:bodyPr/>
                    <a:lstStyle/>
                    <a:p>
                      <a:r>
                        <a:rPr lang="en-IN" sz="1200" dirty="0" err="1"/>
                        <a:t>json</a:t>
                      </a:r>
                      <a:endParaRPr lang="en-IN" sz="1200" dirty="0"/>
                    </a:p>
                  </a:txBody>
                  <a:tcPr marL="73326" marR="73326" marT="36663" marB="36663" anchor="ctr">
                    <a:lnL>
                      <a:noFill/>
                    </a:lnL>
                    <a:lnR>
                      <a:noFill/>
                    </a:lnR>
                    <a:lnT>
                      <a:noFill/>
                    </a:lnT>
                    <a:lnB>
                      <a:noFill/>
                    </a:lnB>
                    <a:noFill/>
                  </a:tcPr>
                </a:tc>
                <a:tc>
                  <a:txBody>
                    <a:bodyPr/>
                    <a:lstStyle/>
                    <a:p>
                      <a:r>
                        <a:rPr lang="en-IN" sz="1200" dirty="0"/>
                        <a:t>Parse API responses</a:t>
                      </a:r>
                    </a:p>
                  </a:txBody>
                  <a:tcPr marL="73326" marR="73326" marT="36663" marB="36663" anchor="ctr">
                    <a:lnL>
                      <a:noFill/>
                    </a:lnL>
                    <a:lnR>
                      <a:noFill/>
                    </a:lnR>
                    <a:lnT>
                      <a:noFill/>
                    </a:lnT>
                    <a:lnB>
                      <a:noFill/>
                    </a:lnB>
                    <a:noFill/>
                  </a:tcPr>
                </a:tc>
                <a:extLst>
                  <a:ext uri="{0D108BD9-81ED-4DB2-BD59-A6C34878D82A}">
                    <a16:rowId xmlns:a16="http://schemas.microsoft.com/office/drawing/2014/main" val="628936083"/>
                  </a:ext>
                </a:extLst>
              </a:tr>
              <a:tr h="341481">
                <a:tc>
                  <a:txBody>
                    <a:bodyPr/>
                    <a:lstStyle/>
                    <a:p>
                      <a:r>
                        <a:rPr lang="en-IN" sz="1200" dirty="0"/>
                        <a:t>re</a:t>
                      </a:r>
                    </a:p>
                  </a:txBody>
                  <a:tcPr marL="73326" marR="73326" marT="36663" marB="36663" anchor="ctr">
                    <a:lnL>
                      <a:noFill/>
                    </a:lnL>
                    <a:lnR>
                      <a:noFill/>
                    </a:lnR>
                    <a:lnT>
                      <a:noFill/>
                    </a:lnT>
                    <a:lnB>
                      <a:noFill/>
                    </a:lnB>
                    <a:noFill/>
                  </a:tcPr>
                </a:tc>
                <a:tc>
                  <a:txBody>
                    <a:bodyPr/>
                    <a:lstStyle/>
                    <a:p>
                      <a:r>
                        <a:rPr lang="en-US" sz="1200"/>
                        <a:t>Process and clean voice text with regular expressions</a:t>
                      </a:r>
                    </a:p>
                  </a:txBody>
                  <a:tcPr marL="73326" marR="73326" marT="36663" marB="36663" anchor="ctr">
                    <a:lnL>
                      <a:noFill/>
                    </a:lnL>
                    <a:lnR>
                      <a:noFill/>
                    </a:lnR>
                    <a:lnT>
                      <a:noFill/>
                    </a:lnT>
                    <a:lnB>
                      <a:noFill/>
                    </a:lnB>
                    <a:noFill/>
                  </a:tcPr>
                </a:tc>
                <a:extLst>
                  <a:ext uri="{0D108BD9-81ED-4DB2-BD59-A6C34878D82A}">
                    <a16:rowId xmlns:a16="http://schemas.microsoft.com/office/drawing/2014/main" val="4213384705"/>
                  </a:ext>
                </a:extLst>
              </a:tr>
              <a:tr h="341481">
                <a:tc>
                  <a:txBody>
                    <a:bodyPr/>
                    <a:lstStyle/>
                    <a:p>
                      <a:r>
                        <a:rPr lang="en-IN" sz="1200"/>
                        <a:t>transformers / nltk / spaCy</a:t>
                      </a:r>
                    </a:p>
                  </a:txBody>
                  <a:tcPr marL="73326" marR="73326" marT="36663" marB="36663" anchor="ctr">
                    <a:lnL>
                      <a:noFill/>
                    </a:lnL>
                    <a:lnR>
                      <a:noFill/>
                    </a:lnR>
                    <a:lnT>
                      <a:noFill/>
                    </a:lnT>
                    <a:lnB>
                      <a:noFill/>
                    </a:lnB>
                    <a:noFill/>
                  </a:tcPr>
                </a:tc>
                <a:tc>
                  <a:txBody>
                    <a:bodyPr/>
                    <a:lstStyle/>
                    <a:p>
                      <a:r>
                        <a:rPr lang="en-IN" sz="1200"/>
                        <a:t>Natural Language Processing (for intent understanding)</a:t>
                      </a:r>
                    </a:p>
                  </a:txBody>
                  <a:tcPr marL="73326" marR="73326" marT="36663" marB="36663" anchor="ctr">
                    <a:lnL>
                      <a:noFill/>
                    </a:lnL>
                    <a:lnR>
                      <a:noFill/>
                    </a:lnR>
                    <a:lnT>
                      <a:noFill/>
                    </a:lnT>
                    <a:lnB>
                      <a:noFill/>
                    </a:lnB>
                    <a:noFill/>
                  </a:tcPr>
                </a:tc>
                <a:extLst>
                  <a:ext uri="{0D108BD9-81ED-4DB2-BD59-A6C34878D82A}">
                    <a16:rowId xmlns:a16="http://schemas.microsoft.com/office/drawing/2014/main" val="3741775439"/>
                  </a:ext>
                </a:extLst>
              </a:tr>
              <a:tr h="341481">
                <a:tc>
                  <a:txBody>
                    <a:bodyPr/>
                    <a:lstStyle/>
                    <a:p>
                      <a:r>
                        <a:rPr lang="en-IN" sz="1200"/>
                        <a:t>pygame (optional)</a:t>
                      </a:r>
                    </a:p>
                  </a:txBody>
                  <a:tcPr marL="73326" marR="73326" marT="36663" marB="36663" anchor="ctr">
                    <a:lnL>
                      <a:noFill/>
                    </a:lnL>
                    <a:lnR>
                      <a:noFill/>
                    </a:lnR>
                    <a:lnT>
                      <a:noFill/>
                    </a:lnT>
                    <a:lnB>
                      <a:noFill/>
                    </a:lnB>
                    <a:noFill/>
                  </a:tcPr>
                </a:tc>
                <a:tc>
                  <a:txBody>
                    <a:bodyPr/>
                    <a:lstStyle/>
                    <a:p>
                      <a:r>
                        <a:rPr lang="en-US" sz="1200" dirty="0"/>
                        <a:t>Play audio responses or background music</a:t>
                      </a:r>
                    </a:p>
                  </a:txBody>
                  <a:tcPr marL="73326" marR="73326" marT="36663" marB="36663" anchor="ctr">
                    <a:lnL>
                      <a:noFill/>
                    </a:lnL>
                    <a:lnR>
                      <a:noFill/>
                    </a:lnR>
                    <a:lnT>
                      <a:noFill/>
                    </a:lnT>
                    <a:lnB>
                      <a:noFill/>
                    </a:lnB>
                    <a:noFill/>
                  </a:tcPr>
                </a:tc>
                <a:extLst>
                  <a:ext uri="{0D108BD9-81ED-4DB2-BD59-A6C34878D82A}">
                    <a16:rowId xmlns:a16="http://schemas.microsoft.com/office/drawing/2014/main" val="3871259990"/>
                  </a:ext>
                </a:extLst>
              </a:tr>
            </a:tbl>
          </a:graphicData>
        </a:graphic>
      </p:graphicFrame>
      <p:sp>
        <p:nvSpPr>
          <p:cNvPr id="5" name="Rectangle 1">
            <a:extLst>
              <a:ext uri="{FF2B5EF4-FFF2-40B4-BE49-F238E27FC236}">
                <a16:creationId xmlns:a16="http://schemas.microsoft.com/office/drawing/2014/main" id="{FE4197C5-5391-2AF8-F12A-2997E8771C3D}"/>
              </a:ext>
            </a:extLst>
          </p:cNvPr>
          <p:cNvSpPr>
            <a:spLocks noChangeArrowheads="1"/>
          </p:cNvSpPr>
          <p:nvPr/>
        </p:nvSpPr>
        <p:spPr bwMode="auto">
          <a:xfrm>
            <a:off x="669036" y="1695661"/>
            <a:ext cx="4456252"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System Requirements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Hardware Requirements: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Processor: Intel i5 or higher (or equivalent AMD)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RAM: Minimum 4 GB (8 GB recommended)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Storage: At least 1 GB free space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Microphone and Speakers: For voice interaction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Internet Connection: For APIs (weather, news, etc.)</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Software Requirements: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Operating System: Windows 10 or later / Linux / macOS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Python Version: 3.7 or higher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IDE: VS Code / PyCharm / </a:t>
            </a:r>
            <a:r>
              <a:rPr kumimoji="0" lang="en-US" altLang="en-US" sz="1200" b="0" i="0" u="none" strike="noStrike" cap="none" normalizeH="0" baseline="0" dirty="0" err="1">
                <a:ln>
                  <a:noFill/>
                </a:ln>
                <a:solidFill>
                  <a:schemeClr val="tx1"/>
                </a:solidFill>
                <a:effectLst/>
                <a:latin typeface="Arial" panose="020B0604020202020204" pitchFamily="34" charset="0"/>
              </a:rPr>
              <a:t>Jupyter</a:t>
            </a:r>
            <a:r>
              <a:rPr kumimoji="0" lang="en-US" altLang="en-US" sz="1200" b="0" i="0" u="none" strike="noStrike" cap="none" normalizeH="0" baseline="0" dirty="0">
                <a:ln>
                  <a:noFill/>
                </a:ln>
                <a:solidFill>
                  <a:schemeClr val="tx1"/>
                </a:solidFill>
                <a:effectLst/>
                <a:latin typeface="Arial" panose="020B0604020202020204" pitchFamily="34" charset="0"/>
              </a:rPr>
              <a:t> Notebook</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Text-to-Speech and Speech Recognition engines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Optional: Cloud services (like Google Cloud for advanced voice processing)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
        <p:nvSpPr>
          <p:cNvPr id="7" name="Rectangle 3">
            <a:extLst>
              <a:ext uri="{FF2B5EF4-FFF2-40B4-BE49-F238E27FC236}">
                <a16:creationId xmlns:a16="http://schemas.microsoft.com/office/drawing/2014/main" id="{0884C8BF-7806-30F5-E2C8-FF3ED20833F2}"/>
              </a:ext>
            </a:extLst>
          </p:cNvPr>
          <p:cNvSpPr>
            <a:spLocks noChangeArrowheads="1"/>
          </p:cNvSpPr>
          <p:nvPr/>
        </p:nvSpPr>
        <p:spPr bwMode="auto">
          <a:xfrm>
            <a:off x="4605707" y="1766642"/>
            <a:ext cx="337808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 Libraries Required to Build the Model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01125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838200" y="365125"/>
            <a:ext cx="10515600" cy="1325563"/>
          </a:xfrm>
        </p:spPr>
        <p:txBody>
          <a:bodyPr>
            <a:normAutofit/>
          </a:bodyPr>
          <a:lstStyle/>
          <a:p>
            <a:r>
              <a:rPr lang="en-US" sz="5400" b="1" cap="all" dirty="0">
                <a:latin typeface="Arial"/>
                <a:cs typeface="Arial"/>
              </a:rPr>
              <a:t>Result</a:t>
            </a:r>
            <a:endParaRPr lang="en-US" sz="54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6102C9B-C4AF-D0DB-DE74-862D9812001C}"/>
              </a:ext>
            </a:extLst>
          </p:cNvPr>
          <p:cNvSpPr>
            <a:spLocks noGrp="1"/>
          </p:cNvSpPr>
          <p:nvPr>
            <p:ph idx="1"/>
          </p:nvPr>
        </p:nvSpPr>
        <p:spPr>
          <a:xfrm>
            <a:off x="1007364" y="1087783"/>
            <a:ext cx="10515600" cy="68965861"/>
          </a:xfrm>
        </p:spPr>
        <p:txBody>
          <a:bodyPr vert="horz" lIns="91440" tIns="45720" rIns="91440" bIns="45720" rtlCol="0">
            <a:normAutofit/>
          </a:bodyPr>
          <a:lstStyle/>
          <a:p>
            <a:pPr marL="0" indent="0">
              <a:buNone/>
            </a:pPr>
            <a:endParaRPr lang="en-US" sz="2200" dirty="0"/>
          </a:p>
          <a:p>
            <a:pPr marL="0" indent="0">
              <a:buNone/>
            </a:pPr>
            <a:endParaRPr lang="en-US" sz="2200" dirty="0"/>
          </a:p>
        </p:txBody>
      </p:sp>
      <p:sp>
        <p:nvSpPr>
          <p:cNvPr id="7" name="Rectangle 4">
            <a:extLst>
              <a:ext uri="{FF2B5EF4-FFF2-40B4-BE49-F238E27FC236}">
                <a16:creationId xmlns:a16="http://schemas.microsoft.com/office/drawing/2014/main" id="{C5A5DCDE-E621-B050-BA27-762EC53677C3}"/>
              </a:ext>
            </a:extLst>
          </p:cNvPr>
          <p:cNvSpPr>
            <a:spLocks noChangeArrowheads="1"/>
          </p:cNvSpPr>
          <p:nvPr/>
        </p:nvSpPr>
        <p:spPr bwMode="auto">
          <a:xfrm>
            <a:off x="0" y="1683183"/>
            <a:ext cx="5778319"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The final system is a </a:t>
            </a:r>
            <a:r>
              <a:rPr kumimoji="0" lang="en-US" altLang="en-US" sz="1600" b="1" i="0" u="none" strike="noStrike" cap="none" normalizeH="0" baseline="0" dirty="0">
                <a:ln>
                  <a:noFill/>
                </a:ln>
                <a:solidFill>
                  <a:schemeClr val="tx1"/>
                </a:solidFill>
                <a:effectLst/>
                <a:latin typeface="Arial" panose="020B0604020202020204" pitchFamily="34" charset="0"/>
              </a:rPr>
              <a:t>real-time, AI-powered voice assistant</a:t>
            </a:r>
            <a:r>
              <a:rPr kumimoji="0" lang="en-US" altLang="en-US" sz="1600" b="0" i="0" u="none" strike="noStrike" cap="none" normalizeH="0" baseline="0" dirty="0">
                <a:ln>
                  <a:noFill/>
                </a:ln>
                <a:solidFill>
                  <a:schemeClr val="tx1"/>
                </a:solidFill>
                <a:effectLst/>
                <a:latin typeface="Arial" panose="020B0604020202020204" pitchFamily="34" charset="0"/>
              </a:rPr>
              <a:t> that can interact with users naturally and perform various tasks using speech input and </a:t>
            </a:r>
            <a:r>
              <a:rPr kumimoji="0" lang="en-US" altLang="en-US" sz="1600" b="0" i="0" u="none" strike="noStrike" cap="none" normalizeH="0" baseline="0" dirty="0" err="1">
                <a:ln>
                  <a:noFill/>
                </a:ln>
                <a:solidFill>
                  <a:schemeClr val="tx1"/>
                </a:solidFill>
                <a:effectLst/>
                <a:latin typeface="Arial" panose="020B0604020202020204" pitchFamily="34" charset="0"/>
              </a:rPr>
              <a:t>output.The</a:t>
            </a:r>
            <a:r>
              <a:rPr kumimoji="0" lang="en-US" altLang="en-US" sz="1600" b="0" i="0" u="none" strike="noStrike" cap="none" normalizeH="0" baseline="0" dirty="0">
                <a:ln>
                  <a:noFill/>
                </a:ln>
                <a:solidFill>
                  <a:schemeClr val="tx1"/>
                </a:solidFill>
                <a:effectLst/>
                <a:latin typeface="Arial" panose="020B0604020202020204" pitchFamily="34" charset="0"/>
              </a:rPr>
              <a:t> assistant was successfully built using Python and includes features such as: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a:ln>
                  <a:noFill/>
                </a:ln>
                <a:solidFill>
                  <a:schemeClr val="tx1"/>
                </a:solidFill>
                <a:effectLst/>
                <a:latin typeface="Arial" panose="020B0604020202020204" pitchFamily="34" charset="0"/>
              </a:rPr>
              <a:t>Speech Recognition</a:t>
            </a:r>
            <a:r>
              <a:rPr kumimoji="0" lang="en-US" altLang="en-US" sz="1600" b="0" i="0" u="none" strike="noStrike" cap="none" normalizeH="0" baseline="0" dirty="0">
                <a:ln>
                  <a:noFill/>
                </a:ln>
                <a:solidFill>
                  <a:schemeClr val="tx1"/>
                </a:solidFill>
                <a:effectLst/>
                <a:latin typeface="Arial" panose="020B0604020202020204" pitchFamily="34" charset="0"/>
              </a:rPr>
              <a:t>: Accurately detects and processes voice commands with 90–95% accuracy in quiet environments.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a:ln>
                  <a:noFill/>
                </a:ln>
                <a:solidFill>
                  <a:schemeClr val="tx1"/>
                </a:solidFill>
                <a:effectLst/>
                <a:latin typeface="Arial" panose="020B0604020202020204" pitchFamily="34" charset="0"/>
              </a:rPr>
              <a:t>AI Voice Output</a:t>
            </a:r>
            <a:r>
              <a:rPr kumimoji="0" lang="en-US" altLang="en-US" sz="1600" b="0" i="0" u="none" strike="noStrike" cap="none" normalizeH="0" baseline="0" dirty="0">
                <a:ln>
                  <a:noFill/>
                </a:ln>
                <a:solidFill>
                  <a:schemeClr val="tx1"/>
                </a:solidFill>
                <a:effectLst/>
                <a:latin typeface="Arial" panose="020B0604020202020204" pitchFamily="34" charset="0"/>
              </a:rPr>
              <a:t>: Generates natural-sounding responses using Text-to-Speech (TTS) technology.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a:ln>
                  <a:noFill/>
                </a:ln>
                <a:solidFill>
                  <a:schemeClr val="tx1"/>
                </a:solidFill>
                <a:effectLst/>
                <a:latin typeface="Arial" panose="020B0604020202020204" pitchFamily="34" charset="0"/>
              </a:rPr>
              <a:t>Real-Time Data Access</a:t>
            </a:r>
            <a:r>
              <a:rPr kumimoji="0" lang="en-US" altLang="en-US" sz="1600" b="0" i="0" u="none" strike="noStrike" cap="none" normalizeH="0" baseline="0" dirty="0">
                <a:ln>
                  <a:noFill/>
                </a:ln>
                <a:solidFill>
                  <a:schemeClr val="tx1"/>
                </a:solidFill>
                <a:effectLst/>
                <a:latin typeface="Arial" panose="020B0604020202020204" pitchFamily="34" charset="0"/>
              </a:rPr>
              <a:t>: Integrates with APIs to provide live weather, news, and joke updates.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a:ln>
                  <a:noFill/>
                </a:ln>
                <a:solidFill>
                  <a:schemeClr val="tx1"/>
                </a:solidFill>
                <a:effectLst/>
                <a:latin typeface="Arial" panose="020B0604020202020204" pitchFamily="34" charset="0"/>
              </a:rPr>
              <a:t>Intelligent Responses</a:t>
            </a:r>
            <a:r>
              <a:rPr kumimoji="0" lang="en-US" altLang="en-US" sz="1600" b="0" i="0" u="none" strike="noStrike" cap="none" normalizeH="0" baseline="0" dirty="0">
                <a:ln>
                  <a:noFill/>
                </a:ln>
                <a:solidFill>
                  <a:schemeClr val="tx1"/>
                </a:solidFill>
                <a:effectLst/>
                <a:latin typeface="Arial" panose="020B0604020202020204" pitchFamily="34" charset="0"/>
              </a:rPr>
              <a:t>: Uses NLP to understand user intent and context for appropriate actions.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a:ln>
                  <a:noFill/>
                </a:ln>
                <a:solidFill>
                  <a:schemeClr val="tx1"/>
                </a:solidFill>
                <a:effectLst/>
                <a:latin typeface="Arial" panose="020B0604020202020204" pitchFamily="34" charset="0"/>
              </a:rPr>
              <a:t>System Automation</a:t>
            </a:r>
            <a:r>
              <a:rPr kumimoji="0" lang="en-US" altLang="en-US" sz="1600" b="0" i="0" u="none" strike="noStrike" cap="none" normalizeH="0" baseline="0" dirty="0">
                <a:ln>
                  <a:noFill/>
                </a:ln>
                <a:solidFill>
                  <a:schemeClr val="tx1"/>
                </a:solidFill>
                <a:effectLst/>
                <a:latin typeface="Arial" panose="020B0604020202020204" pitchFamily="34" charset="0"/>
              </a:rPr>
              <a:t>: Can open websites, play songs, and respond to commands like “Open YouTube” or “What’s the weather?”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a:ln>
                  <a:noFill/>
                </a:ln>
                <a:solidFill>
                  <a:schemeClr val="tx1"/>
                </a:solidFill>
                <a:effectLst/>
                <a:latin typeface="Arial" panose="020B0604020202020204" pitchFamily="34" charset="0"/>
              </a:rPr>
              <a:t>User Experience</a:t>
            </a:r>
            <a:r>
              <a:rPr kumimoji="0" lang="en-US" altLang="en-US" sz="1600" b="0" i="0" u="none" strike="noStrike" cap="none" normalizeH="0" baseline="0" dirty="0">
                <a:ln>
                  <a:noFill/>
                </a:ln>
                <a:solidFill>
                  <a:schemeClr val="tx1"/>
                </a:solidFill>
                <a:effectLst/>
                <a:latin typeface="Arial" panose="020B0604020202020204" pitchFamily="34" charset="0"/>
              </a:rPr>
              <a:t>: Fast response time (&lt; 2 seconds) and personalized greetings enhance engagement.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a:ln>
                  <a:noFill/>
                </a:ln>
                <a:solidFill>
                  <a:schemeClr val="tx1"/>
                </a:solidFill>
                <a:effectLst/>
                <a:latin typeface="Arial" panose="020B0604020202020204" pitchFamily="34" charset="0"/>
              </a:rPr>
              <a:t>Self-Learning Capabilities</a:t>
            </a:r>
            <a:r>
              <a:rPr kumimoji="0" lang="en-US" altLang="en-US" sz="1600" b="0" i="0" u="none" strike="noStrike" cap="none" normalizeH="0" baseline="0" dirty="0">
                <a:ln>
                  <a:noFill/>
                </a:ln>
                <a:solidFill>
                  <a:schemeClr val="tx1"/>
                </a:solidFill>
                <a:effectLst/>
                <a:latin typeface="Arial" panose="020B0604020202020204" pitchFamily="34" charset="0"/>
              </a:rPr>
              <a:t>: Capable of improving over time based on interaction history and feedback.</a:t>
            </a:r>
          </a:p>
        </p:txBody>
      </p:sp>
      <p:pic>
        <p:nvPicPr>
          <p:cNvPr id="9" name="Picture 8">
            <a:extLst>
              <a:ext uri="{FF2B5EF4-FFF2-40B4-BE49-F238E27FC236}">
                <a16:creationId xmlns:a16="http://schemas.microsoft.com/office/drawing/2014/main" id="{0A71656F-498D-5A88-DBE9-2B155ED6412B}"/>
              </a:ext>
            </a:extLst>
          </p:cNvPr>
          <p:cNvPicPr>
            <a:picLocks noChangeAspect="1"/>
          </p:cNvPicPr>
          <p:nvPr/>
        </p:nvPicPr>
        <p:blipFill>
          <a:blip r:embed="rId2"/>
          <a:stretch>
            <a:fillRect/>
          </a:stretch>
        </p:blipFill>
        <p:spPr>
          <a:xfrm>
            <a:off x="5778319" y="1821536"/>
            <a:ext cx="7345730" cy="4740051"/>
          </a:xfrm>
          <a:prstGeom prst="rect">
            <a:avLst/>
          </a:prstGeom>
        </p:spPr>
      </p:pic>
    </p:spTree>
    <p:extLst>
      <p:ext uri="{BB962C8B-B14F-4D97-AF65-F5344CB8AC3E}">
        <p14:creationId xmlns:p14="http://schemas.microsoft.com/office/powerpoint/2010/main" val="587425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B396BB-D4E8-514D-53F4-27AADA666CBB}"/>
              </a:ext>
            </a:extLst>
          </p:cNvPr>
          <p:cNvSpPr>
            <a:spLocks noGrp="1"/>
          </p:cNvSpPr>
          <p:nvPr>
            <p:ph type="title"/>
          </p:nvPr>
        </p:nvSpPr>
        <p:spPr>
          <a:xfrm>
            <a:off x="838200" y="365125"/>
            <a:ext cx="10515600" cy="1325563"/>
          </a:xfrm>
        </p:spPr>
        <p:txBody>
          <a:bodyPr>
            <a:normAutofit/>
          </a:bodyPr>
          <a:lstStyle/>
          <a:p>
            <a:r>
              <a:rPr lang="en-US" sz="5400" b="1" cap="all">
                <a:latin typeface="Arial"/>
                <a:cs typeface="Arial"/>
              </a:rPr>
              <a:t>Conclusion</a:t>
            </a:r>
            <a:endParaRPr lang="en-US"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1789DDB-698E-B624-5621-F9D79482FFED}"/>
              </a:ext>
            </a:extLst>
          </p:cNvPr>
          <p:cNvSpPr>
            <a:spLocks noGrp="1"/>
          </p:cNvSpPr>
          <p:nvPr>
            <p:ph idx="1"/>
          </p:nvPr>
        </p:nvSpPr>
        <p:spPr>
          <a:xfrm>
            <a:off x="838200" y="1929384"/>
            <a:ext cx="10515600" cy="3547184"/>
          </a:xfrm>
        </p:spPr>
        <p:txBody>
          <a:bodyPr vert="horz" lIns="91440" tIns="45720" rIns="91440" bIns="45720" rtlCol="0">
            <a:normAutofit/>
          </a:bodyPr>
          <a:lstStyle/>
          <a:p>
            <a:pPr>
              <a:buNone/>
            </a:pPr>
            <a:r>
              <a:rPr lang="en-US" sz="3600" dirty="0"/>
              <a:t>.</a:t>
            </a:r>
            <a:r>
              <a:rPr lang="en-US" sz="2000" dirty="0"/>
              <a:t>The developed voice assistant successfully demonstrates how artificial intelligence, speech recognition, and natural language processing can be integrated to create an intuitive and interactive system. By enabling real-time voice-based interaction, the assistant simplifies daily tasks, enhances user convenience, and offers personalized responses based on usage patterns.</a:t>
            </a:r>
          </a:p>
          <a:p>
            <a:r>
              <a:rPr lang="en-US" sz="2000" dirty="0"/>
              <a:t>This project not only showcases the practical application of machine learning and automation but also opens doors for future development, including integration with smart devices, enhanced contextual understanding, and multilingual support. It stands as a foundation for more advanced intelligent systems in personal and professional environments.</a:t>
            </a:r>
          </a:p>
          <a:p>
            <a:pPr marL="0" indent="0">
              <a:buNone/>
            </a:pPr>
            <a:endParaRPr lang="en-US" sz="2000" dirty="0"/>
          </a:p>
        </p:txBody>
      </p:sp>
    </p:spTree>
    <p:extLst>
      <p:ext uri="{BB962C8B-B14F-4D97-AF65-F5344CB8AC3E}">
        <p14:creationId xmlns:p14="http://schemas.microsoft.com/office/powerpoint/2010/main" val="22453096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D403C0-6D6C-CF0D-D01B-94F3DED1DC7F}"/>
              </a:ext>
            </a:extLst>
          </p:cNvPr>
          <p:cNvSpPr>
            <a:spLocks noGrp="1"/>
          </p:cNvSpPr>
          <p:nvPr>
            <p:ph type="title"/>
          </p:nvPr>
        </p:nvSpPr>
        <p:spPr>
          <a:xfrm>
            <a:off x="838200" y="365125"/>
            <a:ext cx="10515600" cy="1325563"/>
          </a:xfrm>
        </p:spPr>
        <p:txBody>
          <a:bodyPr>
            <a:normAutofit/>
          </a:bodyPr>
          <a:lstStyle/>
          <a:p>
            <a:r>
              <a:rPr lang="en-US" sz="5400" b="1" cap="all">
                <a:latin typeface="Arial"/>
                <a:cs typeface="Arial"/>
              </a:rPr>
              <a:t>Future scope</a:t>
            </a:r>
            <a:endParaRPr lang="en-US"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F2C79AB-5BF9-3911-CAE8-5E44B0DF2236}"/>
              </a:ext>
            </a:extLst>
          </p:cNvPr>
          <p:cNvSpPr>
            <a:spLocks noGrp="1"/>
          </p:cNvSpPr>
          <p:nvPr>
            <p:ph idx="1"/>
          </p:nvPr>
        </p:nvSpPr>
        <p:spPr>
          <a:xfrm>
            <a:off x="838200" y="1929384"/>
            <a:ext cx="10515600" cy="4251960"/>
          </a:xfrm>
        </p:spPr>
        <p:txBody>
          <a:bodyPr vert="horz" lIns="91440" tIns="45720" rIns="91440" bIns="45720" rtlCol="0">
            <a:normAutofit/>
          </a:bodyPr>
          <a:lstStyle/>
          <a:p>
            <a:pPr marL="0" indent="0">
              <a:spcBef>
                <a:spcPct val="20000"/>
              </a:spcBef>
              <a:spcAft>
                <a:spcPts val="600"/>
              </a:spcAft>
              <a:buNone/>
            </a:pPr>
            <a:endParaRPr lang="en-GB" sz="2200" dirty="0"/>
          </a:p>
          <a:p>
            <a:pPr marL="0" indent="0">
              <a:buNone/>
            </a:pPr>
            <a:endParaRPr lang="en-GB" sz="2200" dirty="0"/>
          </a:p>
        </p:txBody>
      </p:sp>
      <p:sp>
        <p:nvSpPr>
          <p:cNvPr id="4" name="Rectangle 1">
            <a:extLst>
              <a:ext uri="{FF2B5EF4-FFF2-40B4-BE49-F238E27FC236}">
                <a16:creationId xmlns:a16="http://schemas.microsoft.com/office/drawing/2014/main" id="{99A65D53-ECA9-0AA4-E56A-12443FC0BFBD}"/>
              </a:ext>
            </a:extLst>
          </p:cNvPr>
          <p:cNvSpPr>
            <a:spLocks noChangeArrowheads="1"/>
          </p:cNvSpPr>
          <p:nvPr/>
        </p:nvSpPr>
        <p:spPr bwMode="auto">
          <a:xfrm>
            <a:off x="381000" y="2031391"/>
            <a:ext cx="9225116"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1. Wake Word Detection</a:t>
            </a:r>
            <a:r>
              <a:rPr kumimoji="0" lang="en-US" altLang="en-US" sz="1800" b="0" i="0" u="none" strike="noStrike" cap="none" normalizeH="0" baseline="0" dirty="0">
                <a:ln>
                  <a:noFill/>
                </a:ln>
                <a:solidFill>
                  <a:schemeClr val="tx1"/>
                </a:solidFill>
                <a:effectLst/>
                <a:latin typeface="Arial" panose="020B0604020202020204" pitchFamily="34" charset="0"/>
              </a:rPr>
              <a:t>: Implement continuous listening with </a:t>
            </a:r>
            <a:r>
              <a:rPr kumimoji="0" lang="en-US" altLang="en-US" sz="1800" b="0" i="0" u="none" strike="noStrike" cap="none" normalizeH="0" baseline="0" dirty="0" err="1">
                <a:ln>
                  <a:noFill/>
                </a:ln>
                <a:solidFill>
                  <a:schemeClr val="tx1"/>
                </a:solidFill>
                <a:effectLst/>
                <a:latin typeface="Arial" panose="020B0604020202020204" pitchFamily="34" charset="0"/>
              </a:rPr>
              <a:t>hotword</a:t>
            </a:r>
            <a:r>
              <a:rPr kumimoji="0" lang="en-US" altLang="en-US" sz="1800" b="0" i="0" u="none" strike="noStrike" cap="none" normalizeH="0" baseline="0" dirty="0">
                <a:ln>
                  <a:noFill/>
                </a:ln>
                <a:solidFill>
                  <a:schemeClr val="tx1"/>
                </a:solidFill>
                <a:effectLst/>
                <a:latin typeface="Arial" panose="020B0604020202020204" pitchFamily="34" charset="0"/>
              </a:rPr>
              <a:t> detection (e.g., “Hey Jarvis”) to eliminate the need for manual activation.</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b="1" dirty="0">
                <a:latin typeface="Arial" panose="020B0604020202020204" pitchFamily="34" charset="0"/>
              </a:rPr>
              <a:t> 2. </a:t>
            </a:r>
            <a:r>
              <a:rPr kumimoji="0" lang="en-US" altLang="en-US" sz="1800" b="1" i="0" u="none" strike="noStrike" cap="none" normalizeH="0" baseline="0" dirty="0">
                <a:ln>
                  <a:noFill/>
                </a:ln>
                <a:solidFill>
                  <a:schemeClr val="tx1"/>
                </a:solidFill>
                <a:effectLst/>
                <a:latin typeface="Arial" panose="020B0604020202020204" pitchFamily="34" charset="0"/>
              </a:rPr>
              <a:t>Multilingual Support</a:t>
            </a:r>
            <a:r>
              <a:rPr kumimoji="0" lang="en-US" altLang="en-US" sz="1800" b="0" i="0" u="none" strike="noStrike" cap="none" normalizeH="0" baseline="0" dirty="0">
                <a:ln>
                  <a:noFill/>
                </a:ln>
                <a:solidFill>
                  <a:schemeClr val="tx1"/>
                </a:solidFill>
                <a:effectLst/>
                <a:latin typeface="Arial" panose="020B0604020202020204" pitchFamily="34" charset="0"/>
              </a:rPr>
              <a:t>: Extend capabilities to understand and respond in multiple languages, including regional or foreign languages like Japanese.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3. Emotion Recognition</a:t>
            </a:r>
            <a:r>
              <a:rPr kumimoji="0" lang="en-US" altLang="en-US" sz="1800" b="0" i="0" u="none" strike="noStrike" cap="none" normalizeH="0" baseline="0" dirty="0">
                <a:ln>
                  <a:noFill/>
                </a:ln>
                <a:solidFill>
                  <a:schemeClr val="tx1"/>
                </a:solidFill>
                <a:effectLst/>
                <a:latin typeface="Arial" panose="020B0604020202020204" pitchFamily="34" charset="0"/>
              </a:rPr>
              <a:t>: Improve emotional intelligence by integrating facial expression or tone analysis to respond more empathetically.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4. IoT Integration</a:t>
            </a:r>
            <a:r>
              <a:rPr kumimoji="0" lang="en-US" altLang="en-US" sz="1800" b="0" i="0" u="none" strike="noStrike" cap="none" normalizeH="0" baseline="0" dirty="0">
                <a:ln>
                  <a:noFill/>
                </a:ln>
                <a:solidFill>
                  <a:schemeClr val="tx1"/>
                </a:solidFill>
                <a:effectLst/>
                <a:latin typeface="Arial" panose="020B0604020202020204" pitchFamily="34" charset="0"/>
              </a:rPr>
              <a:t>: Connect with smart home devices (lights, fans, security) to allow voice-controlled automation.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5. Web &amp; App Control</a:t>
            </a:r>
            <a:r>
              <a:rPr kumimoji="0" lang="en-US" altLang="en-US" sz="1800" b="0" i="0" u="none" strike="noStrike" cap="none" normalizeH="0" baseline="0" dirty="0">
                <a:ln>
                  <a:noFill/>
                </a:ln>
                <a:solidFill>
                  <a:schemeClr val="tx1"/>
                </a:solidFill>
                <a:effectLst/>
                <a:latin typeface="Arial" panose="020B0604020202020204" pitchFamily="34" charset="0"/>
              </a:rPr>
              <a:t>: Add advanced features like controlling web browsers, sending emails, or interacting with third-party applications.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6. Cloud-based Intelligence</a:t>
            </a:r>
            <a:r>
              <a:rPr kumimoji="0" lang="en-US" altLang="en-US" sz="1800" b="0" i="0" u="none" strike="noStrike" cap="none" normalizeH="0" baseline="0" dirty="0">
                <a:ln>
                  <a:noFill/>
                </a:ln>
                <a:solidFill>
                  <a:schemeClr val="tx1"/>
                </a:solidFill>
                <a:effectLst/>
                <a:latin typeface="Arial" panose="020B0604020202020204" pitchFamily="34" charset="0"/>
              </a:rPr>
              <a:t>: Use cloud services for enhanced processing power, storage, and remote accessibility.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7. Context Awareness</a:t>
            </a:r>
            <a:r>
              <a:rPr kumimoji="0" lang="en-US" altLang="en-US" sz="1800" b="0" i="0" u="none" strike="noStrike" cap="none" normalizeH="0" baseline="0" dirty="0">
                <a:ln>
                  <a:noFill/>
                </a:ln>
                <a:solidFill>
                  <a:schemeClr val="tx1"/>
                </a:solidFill>
                <a:effectLst/>
                <a:latin typeface="Arial" panose="020B0604020202020204" pitchFamily="34" charset="0"/>
              </a:rPr>
              <a:t>: Develop context-aware conversation skills to maintain dialogue history and understand follow-up questions intelligently.</a:t>
            </a:r>
          </a:p>
        </p:txBody>
      </p:sp>
    </p:spTree>
    <p:extLst>
      <p:ext uri="{BB962C8B-B14F-4D97-AF65-F5344CB8AC3E}">
        <p14:creationId xmlns:p14="http://schemas.microsoft.com/office/powerpoint/2010/main" val="37441996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9D7BEC-26CE-96DB-DC10-B2897FA510E0}"/>
              </a:ext>
            </a:extLst>
          </p:cNvPr>
          <p:cNvSpPr>
            <a:spLocks noGrp="1"/>
          </p:cNvSpPr>
          <p:nvPr>
            <p:ph type="title"/>
          </p:nvPr>
        </p:nvSpPr>
        <p:spPr>
          <a:xfrm>
            <a:off x="838200" y="365125"/>
            <a:ext cx="10515600" cy="1325563"/>
          </a:xfrm>
        </p:spPr>
        <p:txBody>
          <a:bodyPr>
            <a:normAutofit/>
          </a:bodyPr>
          <a:lstStyle/>
          <a:p>
            <a:r>
              <a:rPr lang="en-US" sz="5400" b="1" cap="all">
                <a:latin typeface="Arial"/>
                <a:cs typeface="Arial"/>
              </a:rPr>
              <a:t>References</a:t>
            </a:r>
            <a:endParaRPr lang="en-US"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3BC8A961-E64C-8AF0-80A9-5C92A3BB05FA}"/>
              </a:ext>
            </a:extLst>
          </p:cNvPr>
          <p:cNvSpPr>
            <a:spLocks noChangeArrowheads="1"/>
          </p:cNvSpPr>
          <p:nvPr/>
        </p:nvSpPr>
        <p:spPr bwMode="auto">
          <a:xfrm>
            <a:off x="172212" y="1815169"/>
            <a:ext cx="11350752" cy="477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Python Official Documentation – </a:t>
            </a:r>
            <a:r>
              <a:rPr kumimoji="0" lang="en-US" altLang="en-US" sz="1600" b="0" i="0" u="none" strike="noStrike" cap="none" normalizeH="0" baseline="0" dirty="0">
                <a:ln>
                  <a:noFill/>
                </a:ln>
                <a:solidFill>
                  <a:schemeClr val="tx1"/>
                </a:solidFill>
                <a:effectLst/>
                <a:latin typeface="Arial" panose="020B0604020202020204" pitchFamily="34" charset="0"/>
                <a:hlinkClick r:id="rId2"/>
              </a:rPr>
              <a:t>https://docs.python.org/3/</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6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1"/>
                </a:solidFill>
                <a:effectLst/>
                <a:latin typeface="Arial Unicode MS"/>
              </a:rPr>
              <a:t>speech_recognition</a:t>
            </a:r>
            <a:r>
              <a:rPr kumimoji="0" lang="en-US" altLang="en-US" sz="1600" b="0" i="0" u="none" strike="noStrike" cap="none" normalizeH="0" baseline="0" dirty="0">
                <a:ln>
                  <a:noFill/>
                </a:ln>
                <a:solidFill>
                  <a:schemeClr val="tx1"/>
                </a:solidFill>
                <a:effectLst/>
              </a:rPr>
              <a:t> Library – </a:t>
            </a:r>
            <a:r>
              <a:rPr kumimoji="0" lang="en-US" altLang="en-US" sz="1600" b="0" i="0" u="none" strike="noStrike" cap="none" normalizeH="0" baseline="0" dirty="0">
                <a:ln>
                  <a:noFill/>
                </a:ln>
                <a:solidFill>
                  <a:schemeClr val="tx1"/>
                </a:solidFill>
                <a:effectLst/>
                <a:latin typeface="Arial" panose="020B0604020202020204" pitchFamily="34" charset="0"/>
                <a:hlinkClick r:id="rId3"/>
              </a:rPr>
              <a:t>https://pypi.org/project/SpeechRecognition/</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Unicode MS"/>
              </a:rPr>
              <a:t>pyttsx3</a:t>
            </a:r>
            <a:r>
              <a:rPr kumimoji="0" lang="en-US" altLang="en-US" sz="1600" b="0" i="0" u="none" strike="noStrike" cap="none" normalizeH="0" baseline="0" dirty="0">
                <a:ln>
                  <a:noFill/>
                </a:ln>
                <a:solidFill>
                  <a:schemeClr val="tx1"/>
                </a:solidFill>
                <a:effectLst/>
              </a:rPr>
              <a:t> Text-to-Speech Engine – </a:t>
            </a:r>
            <a:r>
              <a:rPr lang="en-US" altLang="en-US" sz="1600" dirty="0">
                <a:latin typeface="Arial" panose="020B0604020202020204" pitchFamily="34" charset="0"/>
                <a:hlinkClick r:id="rId4"/>
              </a:rPr>
              <a:t>https://pypi.org/project/pyttsx3/</a:t>
            </a:r>
            <a:endParaRPr lang="en-US" altLang="en-US" sz="16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1"/>
                </a:solidFill>
                <a:effectLst/>
                <a:latin typeface="Arial" panose="020B0604020202020204" pitchFamily="34" charset="0"/>
              </a:rPr>
              <a:t>Tkinter</a:t>
            </a:r>
            <a:r>
              <a:rPr kumimoji="0" lang="en-US" altLang="en-US" sz="1600" b="0" i="0" u="none" strike="noStrike" cap="none" normalizeH="0" baseline="0" dirty="0">
                <a:ln>
                  <a:noFill/>
                </a:ln>
                <a:solidFill>
                  <a:schemeClr val="tx1"/>
                </a:solidFill>
                <a:effectLst/>
                <a:latin typeface="Arial" panose="020B0604020202020204" pitchFamily="34" charset="0"/>
              </a:rPr>
              <a:t> GUI Toolkit – </a:t>
            </a:r>
            <a:r>
              <a:rPr kumimoji="0" lang="en-US" altLang="en-US" sz="1600" b="0" i="0" u="none" strike="noStrike" cap="none" normalizeH="0" baseline="0" dirty="0">
                <a:ln>
                  <a:noFill/>
                </a:ln>
                <a:solidFill>
                  <a:schemeClr val="tx1"/>
                </a:solidFill>
                <a:effectLst/>
                <a:latin typeface="Arial" panose="020B0604020202020204" pitchFamily="34" charset="0"/>
                <a:hlinkClick r:id="rId5"/>
              </a:rPr>
              <a:t>https://docs.python.org/3/library/tkinter.html</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1"/>
                </a:solidFill>
                <a:effectLst/>
                <a:latin typeface="Arial" panose="020B0604020202020204" pitchFamily="34" charset="0"/>
              </a:rPr>
              <a:t>OpenWeatherMap</a:t>
            </a:r>
            <a:r>
              <a:rPr kumimoji="0" lang="en-US" altLang="en-US" sz="1600" b="0" i="0" u="none" strike="noStrike" cap="none" normalizeH="0" baseline="0" dirty="0">
                <a:ln>
                  <a:noFill/>
                </a:ln>
                <a:solidFill>
                  <a:schemeClr val="tx1"/>
                </a:solidFill>
                <a:effectLst/>
                <a:latin typeface="Arial" panose="020B0604020202020204" pitchFamily="34" charset="0"/>
              </a:rPr>
              <a:t> API – </a:t>
            </a:r>
            <a:r>
              <a:rPr kumimoji="0" lang="en-US" altLang="en-US" sz="1600" b="0" i="0" u="none" strike="noStrike" cap="none" normalizeH="0" baseline="0" dirty="0">
                <a:ln>
                  <a:noFill/>
                </a:ln>
                <a:solidFill>
                  <a:schemeClr val="tx1"/>
                </a:solidFill>
                <a:effectLst/>
                <a:latin typeface="Arial" panose="020B0604020202020204" pitchFamily="34" charset="0"/>
                <a:hlinkClick r:id="rId6"/>
              </a:rPr>
              <a:t>https://openweathermap.org/api</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1"/>
                </a:solidFill>
                <a:effectLst/>
                <a:latin typeface="Arial" panose="020B0604020202020204" pitchFamily="34" charset="0"/>
              </a:rPr>
              <a:t>NewsAPI</a:t>
            </a:r>
            <a:r>
              <a:rPr kumimoji="0" lang="en-US" altLang="en-US" sz="1600" b="0" i="0" u="none" strike="noStrike" cap="none" normalizeH="0" baseline="0" dirty="0">
                <a:ln>
                  <a:noFill/>
                </a:ln>
                <a:solidFill>
                  <a:schemeClr val="tx1"/>
                </a:solidFill>
                <a:effectLst/>
                <a:latin typeface="Arial" panose="020B0604020202020204" pitchFamily="34" charset="0"/>
              </a:rPr>
              <a:t> – </a:t>
            </a:r>
            <a:r>
              <a:rPr kumimoji="0" lang="en-US" altLang="en-US" sz="1600" b="0" i="0" u="none" strike="noStrike" cap="none" normalizeH="0" baseline="0" dirty="0">
                <a:ln>
                  <a:noFill/>
                </a:ln>
                <a:solidFill>
                  <a:schemeClr val="tx1"/>
                </a:solidFill>
                <a:effectLst/>
                <a:latin typeface="Arial" panose="020B0604020202020204" pitchFamily="34" charset="0"/>
                <a:hlinkClick r:id="rId7"/>
              </a:rPr>
              <a:t>https://newsapi.org/</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Google Text-to-Speech API – </a:t>
            </a:r>
            <a:r>
              <a:rPr kumimoji="0" lang="en-US" altLang="en-US" sz="1600" b="0" i="0" u="none" strike="noStrike" cap="none" normalizeH="0" baseline="0" dirty="0">
                <a:ln>
                  <a:noFill/>
                </a:ln>
                <a:solidFill>
                  <a:schemeClr val="tx1"/>
                </a:solidFill>
                <a:effectLst/>
                <a:latin typeface="Arial" panose="020B0604020202020204" pitchFamily="34" charset="0"/>
                <a:hlinkClick r:id="rId8"/>
              </a:rPr>
              <a:t>https://cloud.google.com/text-to-speech</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Wikipedia Python API – </a:t>
            </a:r>
            <a:r>
              <a:rPr kumimoji="0" lang="en-US" altLang="en-US" sz="1600" b="0" i="0" u="none" strike="noStrike" cap="none" normalizeH="0" baseline="0" dirty="0">
                <a:ln>
                  <a:noFill/>
                </a:ln>
                <a:solidFill>
                  <a:schemeClr val="tx1"/>
                </a:solidFill>
                <a:effectLst/>
                <a:latin typeface="Arial" panose="020B0604020202020204" pitchFamily="34" charset="0"/>
                <a:hlinkClick r:id="rId9"/>
              </a:rPr>
              <a:t>https://pypi.org/project/wikipedia/</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GitHub Link – https://github.com/Prathamesh-Lahase/AI-voice_assistant_microsoft_project_edunet_foundation.git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Stack Overflow – For troubleshooting and code optimization</a:t>
            </a:r>
          </a:p>
        </p:txBody>
      </p:sp>
    </p:spTree>
    <p:extLst>
      <p:ext uri="{BB962C8B-B14F-4D97-AF65-F5344CB8AC3E}">
        <p14:creationId xmlns:p14="http://schemas.microsoft.com/office/powerpoint/2010/main" val="16917006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62B4E14-CB16-A18D-91E1-78787A456020}"/>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2B90035-F7DF-B222-A678-18C907CDC7DD}"/>
              </a:ext>
            </a:extLst>
          </p:cNvPr>
          <p:cNvSpPr txBox="1"/>
          <p:nvPr/>
        </p:nvSpPr>
        <p:spPr>
          <a:xfrm>
            <a:off x="838200" y="451381"/>
            <a:ext cx="10512552" cy="4066540"/>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6600" b="1" kern="1200">
                <a:solidFill>
                  <a:schemeClr val="tx1"/>
                </a:solidFill>
                <a:latin typeface="+mj-lt"/>
                <a:ea typeface="+mj-ea"/>
                <a:cs typeface="+mj-cs"/>
              </a:rPr>
              <a:t>Thank you</a:t>
            </a:r>
            <a:endParaRPr lang="en-US" sz="6600" kern="1200">
              <a:solidFill>
                <a:schemeClr val="tx1"/>
              </a:solidFill>
              <a:latin typeface="+mj-lt"/>
              <a:ea typeface="+mj-ea"/>
              <a:cs typeface="+mj-cs"/>
            </a:endParaRPr>
          </a:p>
        </p:txBody>
      </p:sp>
      <p:sp>
        <p:nvSpPr>
          <p:cNvPr id="24"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254988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67</TotalTime>
  <Words>1219</Words>
  <Application>Microsoft Office PowerPoint</Application>
  <PresentationFormat>Widescreen</PresentationFormat>
  <Paragraphs>134</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Aptos</vt:lpstr>
      <vt:lpstr>Aptos Display</vt:lpstr>
      <vt:lpstr>Aptos Narrow</vt:lpstr>
      <vt:lpstr>Arial</vt:lpstr>
      <vt:lpstr>Arial Unicode MS</vt:lpstr>
      <vt:lpstr>Franklin Gothic Demi</vt:lpstr>
      <vt:lpstr>office theme</vt:lpstr>
      <vt:lpstr>CAPSTONE PROJECT  Smart Personal Assistant with Advanced Voice Recognition and Control" </vt:lpstr>
      <vt:lpstr>OUTLINE</vt:lpstr>
      <vt:lpstr>Problem Statement</vt:lpstr>
      <vt:lpstr>Proposed Solution</vt:lpstr>
      <vt:lpstr>System  Approach</vt:lpstr>
      <vt:lpstr>Result</vt:lpstr>
      <vt:lpstr>Conclusion</vt:lpstr>
      <vt:lpstr>Future scope</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Prathamesh Lahase</cp:lastModifiedBy>
  <cp:revision>14</cp:revision>
  <dcterms:created xsi:type="dcterms:W3CDTF">2013-07-15T20:26:40Z</dcterms:created>
  <dcterms:modified xsi:type="dcterms:W3CDTF">2025-05-02T13:11:24Z</dcterms:modified>
</cp:coreProperties>
</file>